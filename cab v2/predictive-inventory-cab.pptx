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3" d="100"/>
          <a:sy n="153" d="100"/>
        </p:scale>
        <p:origin x="55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6206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747"/>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Shape 1"/>
          <p:cNvSpPr/>
          <p:nvPr/>
        </p:nvSpPr>
        <p:spPr>
          <a:xfrm>
            <a:off x="0" y="0"/>
            <a:ext cx="6080760" cy="45720"/>
          </a:xfrm>
          <a:prstGeom prst="rect">
            <a:avLst/>
          </a:prstGeom>
          <a:solidFill>
            <a:srgbClr val="6FB4E3"/>
          </a:solidFill>
          <a:ln/>
        </p:spPr>
        <p:txBody>
          <a:bodyPr/>
          <a:lstStyle/>
          <a:p>
            <a:endParaRPr lang="en-GB"/>
          </a:p>
        </p:txBody>
      </p:sp>
      <p:sp>
        <p:nvSpPr>
          <p:cNvPr id="4" name="Shape 2"/>
          <p:cNvSpPr/>
          <p:nvPr/>
        </p:nvSpPr>
        <p:spPr>
          <a:xfrm>
            <a:off x="731520" y="1371600"/>
            <a:ext cx="2377440" cy="347472"/>
          </a:xfrm>
          <a:prstGeom prst="rect">
            <a:avLst/>
          </a:prstGeom>
          <a:solidFill>
            <a:srgbClr val="00B69F"/>
          </a:solidFill>
          <a:ln/>
        </p:spPr>
        <p:txBody>
          <a:bodyPr/>
          <a:lstStyle/>
          <a:p>
            <a:endParaRPr lang="en-GB"/>
          </a:p>
        </p:txBody>
      </p:sp>
      <p:sp>
        <p:nvSpPr>
          <p:cNvPr id="5" name="Text 3"/>
          <p:cNvSpPr/>
          <p:nvPr/>
        </p:nvSpPr>
        <p:spPr>
          <a:xfrm>
            <a:off x="731520" y="1371600"/>
            <a:ext cx="2377440" cy="347472"/>
          </a:xfrm>
          <a:prstGeom prst="rect">
            <a:avLst/>
          </a:prstGeom>
          <a:noFill/>
          <a:ln/>
        </p:spPr>
        <p:txBody>
          <a:bodyPr wrap="square" lIns="0" tIns="0" rIns="0" bIns="0" rtlCol="0" anchor="ctr"/>
          <a:lstStyle/>
          <a:p>
            <a:pPr marL="0" indent="0" algn="ctr">
              <a:buNone/>
            </a:pPr>
            <a:r>
              <a:rPr lang="en-US" sz="1000" b="1" dirty="0">
                <a:solidFill>
                  <a:srgbClr val="002747"/>
                </a:solidFill>
                <a:latin typeface="Poppins" pitchFamily="34" charset="0"/>
                <a:ea typeface="Poppins" pitchFamily="34" charset="-122"/>
                <a:cs typeface="Poppins" pitchFamily="34" charset="-120"/>
              </a:rPr>
              <a:t>Customer Advisory Board</a:t>
            </a:r>
            <a:endParaRPr lang="en-US" sz="1000" dirty="0"/>
          </a:p>
        </p:txBody>
      </p:sp>
      <p:sp>
        <p:nvSpPr>
          <p:cNvPr id="6" name="Text 4"/>
          <p:cNvSpPr/>
          <p:nvPr/>
        </p:nvSpPr>
        <p:spPr>
          <a:xfrm>
            <a:off x="731520" y="2011680"/>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Poppins" pitchFamily="34" charset="0"/>
                <a:ea typeface="Poppins" pitchFamily="34" charset="-122"/>
                <a:cs typeface="Poppins" pitchFamily="34" charset="-120"/>
              </a:rPr>
              <a:t>Predictive Inventory</a:t>
            </a:r>
            <a:endParaRPr lang="en-US" sz="4400" dirty="0"/>
          </a:p>
        </p:txBody>
      </p:sp>
      <p:sp>
        <p:nvSpPr>
          <p:cNvPr id="7" name="Text 5"/>
          <p:cNvSpPr/>
          <p:nvPr/>
        </p:nvSpPr>
        <p:spPr>
          <a:xfrm>
            <a:off x="731520" y="2926080"/>
            <a:ext cx="8229600" cy="548640"/>
          </a:xfrm>
          <a:prstGeom prst="rect">
            <a:avLst/>
          </a:prstGeom>
          <a:noFill/>
          <a:ln/>
        </p:spPr>
        <p:txBody>
          <a:bodyPr wrap="square" lIns="0" tIns="0" rIns="0" bIns="0" rtlCol="0" anchor="ctr"/>
          <a:lstStyle/>
          <a:p>
            <a:pPr marL="0" indent="0">
              <a:buNone/>
            </a:pPr>
            <a:r>
              <a:rPr lang="en-US" sz="2000" dirty="0">
                <a:solidFill>
                  <a:srgbClr val="00B69F"/>
                </a:solidFill>
                <a:latin typeface="Poppins" pitchFamily="34" charset="0"/>
                <a:ea typeface="Poppins" pitchFamily="34" charset="-122"/>
                <a:cs typeface="Poppins" pitchFamily="34" charset="-120"/>
              </a:rPr>
              <a:t>How AI-Directed Counting Works</a:t>
            </a:r>
            <a:endParaRPr lang="en-US" sz="2000" dirty="0"/>
          </a:p>
        </p:txBody>
      </p:sp>
      <p:sp>
        <p:nvSpPr>
          <p:cNvPr id="8" name="Text 6"/>
          <p:cNvSpPr/>
          <p:nvPr/>
        </p:nvSpPr>
        <p:spPr>
          <a:xfrm>
            <a:off x="731520" y="3566160"/>
            <a:ext cx="7315200" cy="457200"/>
          </a:xfrm>
          <a:prstGeom prst="rect">
            <a:avLst/>
          </a:prstGeom>
          <a:noFill/>
          <a:ln/>
        </p:spPr>
        <p:txBody>
          <a:bodyPr wrap="square" lIns="0" tIns="0" rIns="0" bIns="0" rtlCol="0" anchor="ctr"/>
          <a:lstStyle/>
          <a:p>
            <a:pPr marL="0" indent="0">
              <a:buNone/>
            </a:pPr>
            <a:r>
              <a:rPr lang="en-US" sz="1300" dirty="0">
                <a:solidFill>
                  <a:srgbClr val="CFD1D1"/>
                </a:solidFill>
                <a:latin typeface="Poppins" pitchFamily="34" charset="0"/>
                <a:ea typeface="Poppins" pitchFamily="34" charset="-122"/>
                <a:cs typeface="Poppins" pitchFamily="34" charset="-120"/>
              </a:rPr>
              <a:t>A walkthrough of the product, the workflow, and where we need your input.</a:t>
            </a:r>
            <a:endParaRPr lang="en-US" sz="1300" dirty="0"/>
          </a:p>
        </p:txBody>
      </p:sp>
      <p:sp>
        <p:nvSpPr>
          <p:cNvPr id="9" name="Shape 7"/>
          <p:cNvSpPr/>
          <p:nvPr/>
        </p:nvSpPr>
        <p:spPr>
          <a:xfrm>
            <a:off x="731520" y="4389120"/>
            <a:ext cx="3200400" cy="0"/>
          </a:xfrm>
          <a:prstGeom prst="line">
            <a:avLst/>
          </a:prstGeom>
          <a:noFill/>
          <a:ln w="19050">
            <a:solidFill>
              <a:srgbClr val="00B69F"/>
            </a:solidFill>
            <a:prstDash val="solid"/>
          </a:ln>
        </p:spPr>
        <p:txBody>
          <a:bodyPr/>
          <a:lstStyle/>
          <a:p>
            <a:endParaRPr lang="en-GB"/>
          </a:p>
        </p:txBody>
      </p:sp>
      <p:sp>
        <p:nvSpPr>
          <p:cNvPr id="10" name="Text 8"/>
          <p:cNvSpPr/>
          <p:nvPr/>
        </p:nvSpPr>
        <p:spPr>
          <a:xfrm>
            <a:off x="731520" y="4663440"/>
            <a:ext cx="3657600" cy="365760"/>
          </a:xfrm>
          <a:prstGeom prst="rect">
            <a:avLst/>
          </a:prstGeom>
          <a:noFill/>
          <a:ln/>
        </p:spPr>
        <p:txBody>
          <a:bodyPr wrap="square" lIns="0" tIns="0" rIns="0" bIns="0" rtlCol="0" anchor="ctr"/>
          <a:lstStyle/>
          <a:p>
            <a:pPr marL="0" indent="0">
              <a:buNone/>
            </a:pPr>
            <a:r>
              <a:rPr lang="en-US" sz="1200" dirty="0">
                <a:solidFill>
                  <a:srgbClr val="CFD1D1"/>
                </a:solidFill>
                <a:latin typeface="Poppins" pitchFamily="34" charset="0"/>
                <a:ea typeface="Poppins" pitchFamily="34" charset="-122"/>
                <a:cs typeface="Poppins" pitchFamily="34" charset="-120"/>
              </a:rPr>
              <a:t>Fourth iQ</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640080"/>
          </a:xfrm>
          <a:prstGeom prst="rect">
            <a:avLst/>
          </a:prstGeom>
          <a:noFill/>
          <a:ln/>
        </p:spPr>
        <p:txBody>
          <a:bodyPr wrap="square" lIns="0" tIns="0" rIns="0" bIns="0" rtlCol="0" anchor="ctr"/>
          <a:lstStyle/>
          <a:p>
            <a:pPr marL="0" indent="0">
              <a:buNone/>
            </a:pPr>
            <a:r>
              <a:rPr lang="en-US" sz="3000" b="1" dirty="0">
                <a:solidFill>
                  <a:srgbClr val="002747"/>
                </a:solidFill>
                <a:latin typeface="Poppins" pitchFamily="34" charset="0"/>
                <a:ea typeface="Poppins" pitchFamily="34" charset="-122"/>
                <a:cs typeface="Poppins" pitchFamily="34" charset="-120"/>
              </a:rPr>
              <a:t>What We Are Here to Discuss</a:t>
            </a:r>
            <a:endParaRPr lang="en-US" sz="3000" dirty="0"/>
          </a:p>
        </p:txBody>
      </p:sp>
      <p:sp>
        <p:nvSpPr>
          <p:cNvPr id="4" name="Shape 2"/>
          <p:cNvSpPr/>
          <p:nvPr/>
        </p:nvSpPr>
        <p:spPr>
          <a:xfrm>
            <a:off x="731520" y="1280160"/>
            <a:ext cx="10698480" cy="685800"/>
          </a:xfrm>
          <a:prstGeom prst="rect">
            <a:avLst/>
          </a:prstGeom>
          <a:solidFill>
            <a:srgbClr val="F5F5F5"/>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1005840" y="1417320"/>
            <a:ext cx="365760" cy="365760"/>
          </a:xfrm>
          <a:prstGeom prst="rect">
            <a:avLst/>
          </a:prstGeom>
        </p:spPr>
      </p:pic>
      <p:sp>
        <p:nvSpPr>
          <p:cNvPr id="6" name="Text 3"/>
          <p:cNvSpPr/>
          <p:nvPr/>
        </p:nvSpPr>
        <p:spPr>
          <a:xfrm>
            <a:off x="1554480" y="1325880"/>
            <a:ext cx="32004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The Problem</a:t>
            </a:r>
            <a:endParaRPr lang="en-US" sz="1400" dirty="0"/>
          </a:p>
        </p:txBody>
      </p:sp>
      <p:sp>
        <p:nvSpPr>
          <p:cNvPr id="7" name="Text 4"/>
          <p:cNvSpPr/>
          <p:nvPr/>
        </p:nvSpPr>
        <p:spPr>
          <a:xfrm>
            <a:off x="1554480" y="1645920"/>
            <a:ext cx="9144000" cy="27432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Why inventory counting works the way it does today, and where the effort goes to waste.</a:t>
            </a:r>
            <a:endParaRPr lang="en-US" sz="1100" dirty="0"/>
          </a:p>
        </p:txBody>
      </p:sp>
      <p:sp>
        <p:nvSpPr>
          <p:cNvPr id="8" name="Shape 5"/>
          <p:cNvSpPr/>
          <p:nvPr/>
        </p:nvSpPr>
        <p:spPr>
          <a:xfrm>
            <a:off x="731520" y="2148840"/>
            <a:ext cx="10698480" cy="685800"/>
          </a:xfrm>
          <a:prstGeom prst="rect">
            <a:avLst/>
          </a:prstGeom>
          <a:solidFill>
            <a:srgbClr val="FFFFFF"/>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1005840" y="2286000"/>
            <a:ext cx="365760" cy="365760"/>
          </a:xfrm>
          <a:prstGeom prst="rect">
            <a:avLst/>
          </a:prstGeom>
        </p:spPr>
      </p:pic>
      <p:sp>
        <p:nvSpPr>
          <p:cNvPr id="10" name="Text 6"/>
          <p:cNvSpPr/>
          <p:nvPr/>
        </p:nvSpPr>
        <p:spPr>
          <a:xfrm>
            <a:off x="1554480" y="2194560"/>
            <a:ext cx="32004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How Predictive Inventory Works</a:t>
            </a:r>
            <a:endParaRPr lang="en-US" sz="1400" dirty="0"/>
          </a:p>
        </p:txBody>
      </p:sp>
      <p:sp>
        <p:nvSpPr>
          <p:cNvPr id="11" name="Text 7"/>
          <p:cNvSpPr/>
          <p:nvPr/>
        </p:nvSpPr>
        <p:spPr>
          <a:xfrm>
            <a:off x="1554480" y="2514600"/>
            <a:ext cx="9144000" cy="27432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The end-to-end workflow from AI recommendation through counting to results management.</a:t>
            </a:r>
            <a:endParaRPr lang="en-US" sz="1100" dirty="0"/>
          </a:p>
        </p:txBody>
      </p:sp>
      <p:sp>
        <p:nvSpPr>
          <p:cNvPr id="12" name="Shape 8"/>
          <p:cNvSpPr/>
          <p:nvPr/>
        </p:nvSpPr>
        <p:spPr>
          <a:xfrm>
            <a:off x="731520" y="3017520"/>
            <a:ext cx="10698480" cy="685800"/>
          </a:xfrm>
          <a:prstGeom prst="rect">
            <a:avLst/>
          </a:prstGeom>
          <a:solidFill>
            <a:srgbClr val="F5F5F5"/>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1005840" y="3154680"/>
            <a:ext cx="365760" cy="365760"/>
          </a:xfrm>
          <a:prstGeom prst="rect">
            <a:avLst/>
          </a:prstGeom>
        </p:spPr>
      </p:pic>
      <p:sp>
        <p:nvSpPr>
          <p:cNvPr id="14" name="Text 9"/>
          <p:cNvSpPr/>
          <p:nvPr/>
        </p:nvSpPr>
        <p:spPr>
          <a:xfrm>
            <a:off x="1554480" y="3063240"/>
            <a:ext cx="32004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Controls You Have</a:t>
            </a:r>
            <a:endParaRPr lang="en-US" sz="1400" dirty="0"/>
          </a:p>
        </p:txBody>
      </p:sp>
      <p:sp>
        <p:nvSpPr>
          <p:cNvPr id="15" name="Text 10"/>
          <p:cNvSpPr/>
          <p:nvPr/>
        </p:nvSpPr>
        <p:spPr>
          <a:xfrm>
            <a:off x="1554480" y="3383280"/>
            <a:ext cx="9144000" cy="27432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How you configure the system to match your operation and your risk tolerance.</a:t>
            </a:r>
            <a:endParaRPr lang="en-US" sz="1100" dirty="0"/>
          </a:p>
        </p:txBody>
      </p:sp>
      <p:sp>
        <p:nvSpPr>
          <p:cNvPr id="16" name="Shape 11"/>
          <p:cNvSpPr/>
          <p:nvPr/>
        </p:nvSpPr>
        <p:spPr>
          <a:xfrm>
            <a:off x="731520" y="3886200"/>
            <a:ext cx="10698480" cy="685800"/>
          </a:xfrm>
          <a:prstGeom prst="rect">
            <a:avLst/>
          </a:prstGeom>
          <a:solidFill>
            <a:srgbClr val="FFFFFF"/>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1005840" y="4023360"/>
            <a:ext cx="365760" cy="365760"/>
          </a:xfrm>
          <a:prstGeom prst="rect">
            <a:avLst/>
          </a:prstGeom>
        </p:spPr>
      </p:pic>
      <p:sp>
        <p:nvSpPr>
          <p:cNvPr id="18" name="Text 12"/>
          <p:cNvSpPr/>
          <p:nvPr/>
        </p:nvSpPr>
        <p:spPr>
          <a:xfrm>
            <a:off x="1554480" y="3931920"/>
            <a:ext cx="32004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The Impact</a:t>
            </a:r>
            <a:endParaRPr lang="en-US" sz="1400" dirty="0"/>
          </a:p>
        </p:txBody>
      </p:sp>
      <p:sp>
        <p:nvSpPr>
          <p:cNvPr id="19" name="Text 13"/>
          <p:cNvSpPr/>
          <p:nvPr/>
        </p:nvSpPr>
        <p:spPr>
          <a:xfrm>
            <a:off x="1554480" y="4251960"/>
            <a:ext cx="9144000" cy="27432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What changes for your teams, your stock accuracy, and your financial visibility.</a:t>
            </a:r>
            <a:endParaRPr lang="en-US" sz="1100" dirty="0"/>
          </a:p>
        </p:txBody>
      </p:sp>
      <p:sp>
        <p:nvSpPr>
          <p:cNvPr id="20" name="Shape 14"/>
          <p:cNvSpPr/>
          <p:nvPr/>
        </p:nvSpPr>
        <p:spPr>
          <a:xfrm>
            <a:off x="731520" y="4754880"/>
            <a:ext cx="10698480" cy="685800"/>
          </a:xfrm>
          <a:prstGeom prst="rect">
            <a:avLst/>
          </a:prstGeom>
          <a:solidFill>
            <a:srgbClr val="F5F5F5"/>
          </a:solidFill>
          <a:ln/>
        </p:spPr>
        <p:txBody>
          <a:bodyPr/>
          <a:lstStyle/>
          <a:p>
            <a:endParaRPr lang="en-GB"/>
          </a:p>
        </p:txBody>
      </p:sp>
      <p:pic>
        <p:nvPicPr>
          <p:cNvPr id="21" name="Image 4" descr="preencoded.png"/>
          <p:cNvPicPr>
            <a:picLocks noChangeAspect="1"/>
          </p:cNvPicPr>
          <p:nvPr/>
        </p:nvPicPr>
        <p:blipFill>
          <a:blip r:embed="rId7"/>
          <a:stretch>
            <a:fillRect/>
          </a:stretch>
        </p:blipFill>
        <p:spPr>
          <a:xfrm>
            <a:off x="1005840" y="4892040"/>
            <a:ext cx="365760" cy="365760"/>
          </a:xfrm>
          <a:prstGeom prst="rect">
            <a:avLst/>
          </a:prstGeom>
        </p:spPr>
      </p:pic>
      <p:sp>
        <p:nvSpPr>
          <p:cNvPr id="22" name="Text 15"/>
          <p:cNvSpPr/>
          <p:nvPr/>
        </p:nvSpPr>
        <p:spPr>
          <a:xfrm>
            <a:off x="1554480" y="4800600"/>
            <a:ext cx="32004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Your Feedback</a:t>
            </a:r>
            <a:endParaRPr lang="en-US" sz="1400" dirty="0"/>
          </a:p>
        </p:txBody>
      </p:sp>
      <p:sp>
        <p:nvSpPr>
          <p:cNvPr id="23" name="Text 16"/>
          <p:cNvSpPr/>
          <p:nvPr/>
        </p:nvSpPr>
        <p:spPr>
          <a:xfrm>
            <a:off x="1554480" y="5120640"/>
            <a:ext cx="9144000" cy="27432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Where we need your perspective to shape the product for real operations.</a:t>
            </a:r>
            <a:endParaRPr lang="en-US" sz="1100" dirty="0"/>
          </a:p>
        </p:txBody>
      </p:sp>
      <p:sp>
        <p:nvSpPr>
          <p:cNvPr id="24" name="Shape 17"/>
          <p:cNvSpPr/>
          <p:nvPr/>
        </p:nvSpPr>
        <p:spPr>
          <a:xfrm>
            <a:off x="731520" y="5577840"/>
            <a:ext cx="10698480" cy="548640"/>
          </a:xfrm>
          <a:prstGeom prst="rect">
            <a:avLst/>
          </a:prstGeom>
          <a:solidFill>
            <a:srgbClr val="002747"/>
          </a:solidFill>
          <a:ln/>
        </p:spPr>
        <p:txBody>
          <a:bodyPr/>
          <a:lstStyle/>
          <a:p>
            <a:endParaRPr lang="en-GB"/>
          </a:p>
        </p:txBody>
      </p:sp>
      <p:sp>
        <p:nvSpPr>
          <p:cNvPr id="25" name="Text 18"/>
          <p:cNvSpPr/>
          <p:nvPr/>
        </p:nvSpPr>
        <p:spPr>
          <a:xfrm>
            <a:off x="1097280" y="5623560"/>
            <a:ext cx="9601200" cy="411480"/>
          </a:xfrm>
          <a:prstGeom prst="rect">
            <a:avLst/>
          </a:prstGeom>
          <a:noFill/>
          <a:ln/>
        </p:spPr>
        <p:txBody>
          <a:bodyPr wrap="square" lIns="0" tIns="0" rIns="0" bIns="0" rtlCol="0" anchor="ctr"/>
          <a:lstStyle/>
          <a:p>
            <a:pPr marL="0" indent="0">
              <a:buNone/>
            </a:pPr>
            <a:r>
              <a:rPr lang="en-US" sz="1200" b="1" dirty="0">
                <a:solidFill>
                  <a:srgbClr val="00B69F"/>
                </a:solidFill>
                <a:latin typeface="Poppins" pitchFamily="34" charset="0"/>
                <a:ea typeface="Poppins" pitchFamily="34" charset="-122"/>
                <a:cs typeface="Poppins" pitchFamily="34" charset="-120"/>
              </a:rPr>
              <a:t>This is a working session. We want your honest reaction, not polite agreement.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274320"/>
            <a:ext cx="10058400" cy="54864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The Problem with Inventory Counting Today</a:t>
            </a:r>
            <a:endParaRPr lang="en-US" sz="2800" dirty="0"/>
          </a:p>
        </p:txBody>
      </p:sp>
      <p:sp>
        <p:nvSpPr>
          <p:cNvPr id="4" name="Text 2"/>
          <p:cNvSpPr/>
          <p:nvPr/>
        </p:nvSpPr>
        <p:spPr>
          <a:xfrm>
            <a:off x="731520" y="822960"/>
            <a:ext cx="10058400" cy="411480"/>
          </a:xfrm>
          <a:prstGeom prst="rect">
            <a:avLst/>
          </a:prstGeom>
          <a:noFill/>
          <a:ln/>
        </p:spPr>
        <p:txBody>
          <a:bodyPr wrap="square" lIns="0" tIns="0" rIns="0" bIns="0" rtlCol="0" anchor="ctr"/>
          <a:lstStyle/>
          <a:p>
            <a:pPr marL="0" indent="0">
              <a:buNone/>
            </a:pPr>
            <a:r>
              <a:rPr lang="en-US" sz="1300" dirty="0">
                <a:solidFill>
                  <a:srgbClr val="0C4A7D"/>
                </a:solidFill>
                <a:latin typeface="Poppins" pitchFamily="34" charset="0"/>
                <a:ea typeface="Poppins" pitchFamily="34" charset="-122"/>
                <a:cs typeface="Poppins" pitchFamily="34" charset="-120"/>
              </a:rPr>
              <a:t>Most hospitality businesses count inventory the same way they always have. The process is familiar, but the cost of that familiarity is hidden.</a:t>
            </a:r>
            <a:endParaRPr lang="en-US" sz="1300" dirty="0"/>
          </a:p>
        </p:txBody>
      </p:sp>
      <p:sp>
        <p:nvSpPr>
          <p:cNvPr id="5" name="Shape 3"/>
          <p:cNvSpPr/>
          <p:nvPr/>
        </p:nvSpPr>
        <p:spPr>
          <a:xfrm>
            <a:off x="731520" y="1417320"/>
            <a:ext cx="10698480" cy="91440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731520" y="1417320"/>
            <a:ext cx="73152" cy="914400"/>
          </a:xfrm>
          <a:prstGeom prst="rect">
            <a:avLst/>
          </a:prstGeom>
          <a:solidFill>
            <a:srgbClr val="D9373B"/>
          </a:solidFill>
          <a:ln/>
        </p:spPr>
        <p:txBody>
          <a:bodyPr/>
          <a:lstStyle/>
          <a:p>
            <a:endParaRPr lang="en-GB"/>
          </a:p>
        </p:txBody>
      </p:sp>
      <p:pic>
        <p:nvPicPr>
          <p:cNvPr id="7" name="Image 0" descr="preencoded.png"/>
          <p:cNvPicPr>
            <a:picLocks noChangeAspect="1"/>
          </p:cNvPicPr>
          <p:nvPr/>
        </p:nvPicPr>
        <p:blipFill>
          <a:blip r:embed="rId3"/>
          <a:stretch>
            <a:fillRect/>
          </a:stretch>
        </p:blipFill>
        <p:spPr>
          <a:xfrm>
            <a:off x="1051560" y="1673352"/>
            <a:ext cx="347472" cy="347472"/>
          </a:xfrm>
          <a:prstGeom prst="rect">
            <a:avLst/>
          </a:prstGeom>
        </p:spPr>
      </p:pic>
      <p:sp>
        <p:nvSpPr>
          <p:cNvPr id="8" name="Text 5"/>
          <p:cNvSpPr/>
          <p:nvPr/>
        </p:nvSpPr>
        <p:spPr>
          <a:xfrm>
            <a:off x="1554480" y="1481328"/>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Effort Without Direction</a:t>
            </a:r>
            <a:endParaRPr lang="en-US" sz="1400" dirty="0"/>
          </a:p>
        </p:txBody>
      </p:sp>
      <p:sp>
        <p:nvSpPr>
          <p:cNvPr id="9" name="Text 6"/>
          <p:cNvSpPr/>
          <p:nvPr/>
        </p:nvSpPr>
        <p:spPr>
          <a:xfrm>
            <a:off x="1554480" y="1783080"/>
            <a:ext cx="9509760" cy="502920"/>
          </a:xfrm>
          <a:prstGeom prst="rect">
            <a:avLst/>
          </a:prstGeom>
          <a:noFill/>
          <a:ln/>
        </p:spPr>
        <p:txBody>
          <a:bodyPr wrap="square" lIns="0" tIns="0" rIns="0" bIns="0" rtlCol="0" anchor="ctr"/>
          <a:lstStyle/>
          <a:p>
            <a:pPr marL="0" indent="0">
              <a:buNone/>
            </a:pPr>
            <a:r>
              <a:rPr lang="en-US" sz="1000" dirty="0">
                <a:solidFill>
                  <a:srgbClr val="4B5563"/>
                </a:solidFill>
                <a:latin typeface="Poppins" pitchFamily="34" charset="0"/>
                <a:ea typeface="Poppins" pitchFamily="34" charset="-122"/>
                <a:cs typeface="Poppins" pitchFamily="34" charset="-120"/>
              </a:rPr>
              <a:t>Your teams count every line on a fixed schedule. A stable, low-value ambient item gets the same count frequency as a high-risk, high-value chilled protein. The result is that 40%+ of counting effort is spent on items with little or no likelihood of variance. That is labour redirected from service, prep, and customer-facing tasks.</a:t>
            </a:r>
            <a:endParaRPr lang="en-US" sz="1000" dirty="0"/>
          </a:p>
        </p:txBody>
      </p:sp>
      <p:sp>
        <p:nvSpPr>
          <p:cNvPr id="10" name="Shape 7"/>
          <p:cNvSpPr/>
          <p:nvPr/>
        </p:nvSpPr>
        <p:spPr>
          <a:xfrm>
            <a:off x="731520" y="2514600"/>
            <a:ext cx="10698480" cy="91440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11" name="Shape 8"/>
          <p:cNvSpPr/>
          <p:nvPr/>
        </p:nvSpPr>
        <p:spPr>
          <a:xfrm>
            <a:off x="731520" y="2514600"/>
            <a:ext cx="73152" cy="914400"/>
          </a:xfrm>
          <a:prstGeom prst="rect">
            <a:avLst/>
          </a:prstGeom>
          <a:solidFill>
            <a:srgbClr val="FAA51A"/>
          </a:solidFill>
          <a:ln/>
        </p:spPr>
        <p:txBody>
          <a:bodyPr/>
          <a:lstStyle/>
          <a:p>
            <a:endParaRPr lang="en-GB"/>
          </a:p>
        </p:txBody>
      </p:sp>
      <p:pic>
        <p:nvPicPr>
          <p:cNvPr id="12" name="Image 1" descr="preencoded.png"/>
          <p:cNvPicPr>
            <a:picLocks noChangeAspect="1"/>
          </p:cNvPicPr>
          <p:nvPr/>
        </p:nvPicPr>
        <p:blipFill>
          <a:blip r:embed="rId4"/>
          <a:stretch>
            <a:fillRect/>
          </a:stretch>
        </p:blipFill>
        <p:spPr>
          <a:xfrm>
            <a:off x="1051560" y="2770632"/>
            <a:ext cx="347472" cy="347472"/>
          </a:xfrm>
          <a:prstGeom prst="rect">
            <a:avLst/>
          </a:prstGeom>
        </p:spPr>
      </p:pic>
      <p:sp>
        <p:nvSpPr>
          <p:cNvPr id="13" name="Text 9"/>
          <p:cNvSpPr/>
          <p:nvPr/>
        </p:nvSpPr>
        <p:spPr>
          <a:xfrm>
            <a:off x="1554480" y="2578608"/>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Variance Found Too Late</a:t>
            </a:r>
            <a:endParaRPr lang="en-US" sz="1400" dirty="0"/>
          </a:p>
        </p:txBody>
      </p:sp>
      <p:sp>
        <p:nvSpPr>
          <p:cNvPr id="14" name="Text 10"/>
          <p:cNvSpPr/>
          <p:nvPr/>
        </p:nvSpPr>
        <p:spPr>
          <a:xfrm>
            <a:off x="1554480" y="2880360"/>
            <a:ext cx="9509760" cy="502920"/>
          </a:xfrm>
          <a:prstGeom prst="rect">
            <a:avLst/>
          </a:prstGeom>
          <a:noFill/>
          <a:ln/>
        </p:spPr>
        <p:txBody>
          <a:bodyPr wrap="square" lIns="0" tIns="0" rIns="0" bIns="0" rtlCol="0" anchor="ctr"/>
          <a:lstStyle/>
          <a:p>
            <a:pPr marL="0" indent="0">
              <a:buNone/>
            </a:pPr>
            <a:r>
              <a:rPr lang="en-US" sz="1000" dirty="0">
                <a:solidFill>
                  <a:srgbClr val="4B5563"/>
                </a:solidFill>
                <a:latin typeface="Poppins" pitchFamily="34" charset="0"/>
                <a:ea typeface="Poppins" pitchFamily="34" charset="-122"/>
                <a:cs typeface="Poppins" pitchFamily="34" charset="-120"/>
              </a:rPr>
              <a:t>Without prioritisation, the items most likely to have stock discrepancies are not counted any sooner than items that rarely move. By the time variance is found, it has already affected availability (customers see gaps on shelves), waste (stock has expired or been over-ordered), or your financial position (period-end adjustments come as surprises).</a:t>
            </a:r>
            <a:endParaRPr lang="en-US" sz="1000" dirty="0"/>
          </a:p>
        </p:txBody>
      </p:sp>
      <p:sp>
        <p:nvSpPr>
          <p:cNvPr id="15" name="Shape 11"/>
          <p:cNvSpPr/>
          <p:nvPr/>
        </p:nvSpPr>
        <p:spPr>
          <a:xfrm>
            <a:off x="731520" y="3611880"/>
            <a:ext cx="10698480" cy="91440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16" name="Shape 12"/>
          <p:cNvSpPr/>
          <p:nvPr/>
        </p:nvSpPr>
        <p:spPr>
          <a:xfrm>
            <a:off x="731520" y="3611880"/>
            <a:ext cx="73152" cy="914400"/>
          </a:xfrm>
          <a:prstGeom prst="rect">
            <a:avLst/>
          </a:prstGeom>
          <a:solidFill>
            <a:srgbClr val="0C4A7D"/>
          </a:solidFill>
          <a:ln/>
        </p:spPr>
        <p:txBody>
          <a:bodyPr/>
          <a:lstStyle/>
          <a:p>
            <a:endParaRPr lang="en-GB"/>
          </a:p>
        </p:txBody>
      </p:sp>
      <p:pic>
        <p:nvPicPr>
          <p:cNvPr id="17" name="Image 2" descr="preencoded.png"/>
          <p:cNvPicPr>
            <a:picLocks noChangeAspect="1"/>
          </p:cNvPicPr>
          <p:nvPr/>
        </p:nvPicPr>
        <p:blipFill>
          <a:blip r:embed="rId5"/>
          <a:stretch>
            <a:fillRect/>
          </a:stretch>
        </p:blipFill>
        <p:spPr>
          <a:xfrm>
            <a:off x="1051560" y="3867912"/>
            <a:ext cx="347472" cy="347472"/>
          </a:xfrm>
          <a:prstGeom prst="rect">
            <a:avLst/>
          </a:prstGeom>
        </p:spPr>
      </p:pic>
      <p:sp>
        <p:nvSpPr>
          <p:cNvPr id="18" name="Text 13"/>
          <p:cNvSpPr/>
          <p:nvPr/>
        </p:nvSpPr>
        <p:spPr>
          <a:xfrm>
            <a:off x="1554480" y="3675888"/>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No Way to Adapt</a:t>
            </a:r>
            <a:endParaRPr lang="en-US" sz="1400" dirty="0"/>
          </a:p>
        </p:txBody>
      </p:sp>
      <p:sp>
        <p:nvSpPr>
          <p:cNvPr id="19" name="Text 14"/>
          <p:cNvSpPr/>
          <p:nvPr/>
        </p:nvSpPr>
        <p:spPr>
          <a:xfrm>
            <a:off x="1554480" y="3977640"/>
            <a:ext cx="9509760" cy="502920"/>
          </a:xfrm>
          <a:prstGeom prst="rect">
            <a:avLst/>
          </a:prstGeom>
          <a:noFill/>
          <a:ln/>
        </p:spPr>
        <p:txBody>
          <a:bodyPr wrap="square" lIns="0" tIns="0" rIns="0" bIns="0" rtlCol="0" anchor="ctr"/>
          <a:lstStyle/>
          <a:p>
            <a:pPr marL="0" indent="0">
              <a:buNone/>
            </a:pPr>
            <a:r>
              <a:rPr lang="en-US" sz="1000" dirty="0">
                <a:solidFill>
                  <a:srgbClr val="4B5563"/>
                </a:solidFill>
                <a:latin typeface="Poppins" pitchFamily="34" charset="0"/>
                <a:ea typeface="Poppins" pitchFamily="34" charset="-122"/>
                <a:cs typeface="Poppins" pitchFamily="34" charset="-120"/>
              </a:rPr>
              <a:t>Every site, every category, every item follows the same counting pattern. Managers cannot easily say 'count chilled more often' or 'skip low-value ambient this week' without changing the entire process. There is no mechanism to target effort based on what the business actually needs right now.</a:t>
            </a:r>
            <a:endParaRPr lang="en-US" sz="1000" dirty="0"/>
          </a:p>
        </p:txBody>
      </p:sp>
      <p:sp>
        <p:nvSpPr>
          <p:cNvPr id="20" name="Shape 15"/>
          <p:cNvSpPr/>
          <p:nvPr/>
        </p:nvSpPr>
        <p:spPr>
          <a:xfrm>
            <a:off x="731520" y="4709160"/>
            <a:ext cx="10698480" cy="91440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21" name="Shape 16"/>
          <p:cNvSpPr/>
          <p:nvPr/>
        </p:nvSpPr>
        <p:spPr>
          <a:xfrm>
            <a:off x="731520" y="4709160"/>
            <a:ext cx="73152" cy="914400"/>
          </a:xfrm>
          <a:prstGeom prst="rect">
            <a:avLst/>
          </a:prstGeom>
          <a:solidFill>
            <a:srgbClr val="002747"/>
          </a:solidFill>
          <a:ln/>
        </p:spPr>
        <p:txBody>
          <a:bodyPr/>
          <a:lstStyle/>
          <a:p>
            <a:endParaRPr lang="en-GB"/>
          </a:p>
        </p:txBody>
      </p:sp>
      <p:pic>
        <p:nvPicPr>
          <p:cNvPr id="22" name="Image 3" descr="preencoded.png"/>
          <p:cNvPicPr>
            <a:picLocks noChangeAspect="1"/>
          </p:cNvPicPr>
          <p:nvPr/>
        </p:nvPicPr>
        <p:blipFill>
          <a:blip r:embed="rId6"/>
          <a:stretch>
            <a:fillRect/>
          </a:stretch>
        </p:blipFill>
        <p:spPr>
          <a:xfrm>
            <a:off x="1051560" y="4965192"/>
            <a:ext cx="347472" cy="347472"/>
          </a:xfrm>
          <a:prstGeom prst="rect">
            <a:avLst/>
          </a:prstGeom>
        </p:spPr>
      </p:pic>
      <p:sp>
        <p:nvSpPr>
          <p:cNvPr id="23" name="Text 17"/>
          <p:cNvSpPr/>
          <p:nvPr/>
        </p:nvSpPr>
        <p:spPr>
          <a:xfrm>
            <a:off x="1554480" y="4773168"/>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No Learning, No Improvement</a:t>
            </a:r>
            <a:endParaRPr lang="en-US" sz="1400" dirty="0"/>
          </a:p>
        </p:txBody>
      </p:sp>
      <p:sp>
        <p:nvSpPr>
          <p:cNvPr id="24" name="Text 18"/>
          <p:cNvSpPr/>
          <p:nvPr/>
        </p:nvSpPr>
        <p:spPr>
          <a:xfrm>
            <a:off x="1554480" y="5074920"/>
            <a:ext cx="9509760" cy="502920"/>
          </a:xfrm>
          <a:prstGeom prst="rect">
            <a:avLst/>
          </a:prstGeom>
          <a:noFill/>
          <a:ln/>
        </p:spPr>
        <p:txBody>
          <a:bodyPr wrap="square" lIns="0" tIns="0" rIns="0" bIns="0" rtlCol="0" anchor="ctr"/>
          <a:lstStyle/>
          <a:p>
            <a:pPr marL="0" indent="0">
              <a:buNone/>
            </a:pPr>
            <a:r>
              <a:rPr lang="en-US" sz="1000" dirty="0">
                <a:solidFill>
                  <a:srgbClr val="4B5563"/>
                </a:solidFill>
                <a:latin typeface="Poppins" pitchFamily="34" charset="0"/>
                <a:ea typeface="Poppins" pitchFamily="34" charset="-122"/>
                <a:cs typeface="Poppins" pitchFamily="34" charset="-120"/>
              </a:rPr>
              <a:t>The results of one counting cycle do not inform the next. If an item had zero variance five cycles in a row, it still gets counted on the same schedule. If another item has had variance every single cycle, it gets no extra attention. The process does not learn, so it never gets more efficient.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747"/>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D9373B"/>
          </a:solidFill>
          <a:ln/>
        </p:spPr>
        <p:txBody>
          <a:bodyPr/>
          <a:lstStyle/>
          <a:p>
            <a:endParaRPr lang="en-GB"/>
          </a:p>
        </p:txBody>
      </p:sp>
      <p:sp>
        <p:nvSpPr>
          <p:cNvPr id="3" name="Text 1"/>
          <p:cNvSpPr/>
          <p:nvPr/>
        </p:nvSpPr>
        <p:spPr>
          <a:xfrm>
            <a:off x="731520" y="274320"/>
            <a:ext cx="10058400" cy="548640"/>
          </a:xfrm>
          <a:prstGeom prst="rect">
            <a:avLst/>
          </a:prstGeom>
          <a:noFill/>
          <a:ln/>
        </p:spPr>
        <p:txBody>
          <a:bodyPr wrap="square" lIns="0" tIns="0" rIns="0" bIns="0" rtlCol="0" anchor="ctr"/>
          <a:lstStyle/>
          <a:p>
            <a:pPr marL="0" indent="0">
              <a:buNone/>
            </a:pPr>
            <a:r>
              <a:rPr lang="en-US" sz="2800" b="1" dirty="0">
                <a:solidFill>
                  <a:srgbClr val="FFFFFF"/>
                </a:solidFill>
                <a:latin typeface="Poppins" pitchFamily="34" charset="0"/>
                <a:ea typeface="Poppins" pitchFamily="34" charset="-122"/>
                <a:cs typeface="Poppins" pitchFamily="34" charset="-120"/>
              </a:rPr>
              <a:t>How This Compounds</a:t>
            </a:r>
            <a:endParaRPr lang="en-US" sz="2800" dirty="0"/>
          </a:p>
        </p:txBody>
      </p:sp>
      <p:sp>
        <p:nvSpPr>
          <p:cNvPr id="4" name="Text 2"/>
          <p:cNvSpPr/>
          <p:nvPr/>
        </p:nvSpPr>
        <p:spPr>
          <a:xfrm>
            <a:off x="731520" y="822960"/>
            <a:ext cx="9144000" cy="320040"/>
          </a:xfrm>
          <a:prstGeom prst="rect">
            <a:avLst/>
          </a:prstGeom>
          <a:noFill/>
          <a:ln/>
        </p:spPr>
        <p:txBody>
          <a:bodyPr wrap="square" lIns="0" tIns="0" rIns="0" bIns="0" rtlCol="0" anchor="ctr"/>
          <a:lstStyle/>
          <a:p>
            <a:pPr marL="0" indent="0">
              <a:buNone/>
            </a:pPr>
            <a:r>
              <a:rPr lang="en-US" sz="1300" dirty="0">
                <a:solidFill>
                  <a:srgbClr val="6FB4E3"/>
                </a:solidFill>
                <a:latin typeface="Poppins" pitchFamily="34" charset="0"/>
                <a:ea typeface="Poppins" pitchFamily="34" charset="-122"/>
                <a:cs typeface="Poppins" pitchFamily="34" charset="-120"/>
              </a:rPr>
              <a:t>These are not separate problems. They feed into each other.</a:t>
            </a:r>
            <a:endParaRPr lang="en-US" sz="1300" dirty="0"/>
          </a:p>
        </p:txBody>
      </p:sp>
      <p:sp>
        <p:nvSpPr>
          <p:cNvPr id="5" name="Shape 3"/>
          <p:cNvSpPr/>
          <p:nvPr/>
        </p:nvSpPr>
        <p:spPr>
          <a:xfrm>
            <a:off x="457200" y="1463040"/>
            <a:ext cx="2103120" cy="1828800"/>
          </a:xfrm>
          <a:prstGeom prst="rect">
            <a:avLst/>
          </a:prstGeom>
          <a:solidFill>
            <a:srgbClr val="0C4A7D"/>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457200" y="1463040"/>
            <a:ext cx="2103120" cy="45720"/>
          </a:xfrm>
          <a:prstGeom prst="rect">
            <a:avLst/>
          </a:prstGeom>
          <a:solidFill>
            <a:srgbClr val="CFD1D1"/>
          </a:solidFill>
          <a:ln/>
        </p:spPr>
        <p:txBody>
          <a:bodyPr/>
          <a:lstStyle/>
          <a:p>
            <a:endParaRPr lang="en-GB"/>
          </a:p>
        </p:txBody>
      </p:sp>
      <p:sp>
        <p:nvSpPr>
          <p:cNvPr id="7" name="Shape 5"/>
          <p:cNvSpPr/>
          <p:nvPr/>
        </p:nvSpPr>
        <p:spPr>
          <a:xfrm>
            <a:off x="1234440" y="1691640"/>
            <a:ext cx="457200" cy="457200"/>
          </a:xfrm>
          <a:prstGeom prst="ellipse">
            <a:avLst/>
          </a:prstGeom>
          <a:solidFill>
            <a:srgbClr val="CFD1D1"/>
          </a:solidFill>
          <a:ln/>
        </p:spPr>
        <p:txBody>
          <a:bodyPr/>
          <a:lstStyle/>
          <a:p>
            <a:endParaRPr lang="en-GB"/>
          </a:p>
        </p:txBody>
      </p:sp>
      <p:sp>
        <p:nvSpPr>
          <p:cNvPr id="8" name="Text 6"/>
          <p:cNvSpPr/>
          <p:nvPr/>
        </p:nvSpPr>
        <p:spPr>
          <a:xfrm>
            <a:off x="1234440" y="1691640"/>
            <a:ext cx="457200" cy="457200"/>
          </a:xfrm>
          <a:prstGeom prst="rect">
            <a:avLst/>
          </a:prstGeom>
          <a:noFill/>
          <a:ln/>
        </p:spPr>
        <p:txBody>
          <a:bodyPr wrap="square" lIns="0" tIns="0" rIns="0" bIns="0" rtlCol="0" anchor="ctr"/>
          <a:lstStyle/>
          <a:p>
            <a:pPr marL="0" indent="0" algn="ctr">
              <a:buNone/>
            </a:pPr>
            <a:r>
              <a:rPr lang="en-US" sz="1600" b="1" dirty="0">
                <a:solidFill>
                  <a:srgbClr val="002747"/>
                </a:solidFill>
                <a:latin typeface="Poppins" pitchFamily="34" charset="0"/>
                <a:ea typeface="Poppins" pitchFamily="34" charset="-122"/>
                <a:cs typeface="Poppins" pitchFamily="34" charset="-120"/>
              </a:rPr>
              <a:t>1</a:t>
            </a:r>
            <a:endParaRPr lang="en-US" sz="1600" dirty="0"/>
          </a:p>
        </p:txBody>
      </p:sp>
      <p:sp>
        <p:nvSpPr>
          <p:cNvPr id="9" name="Text 7"/>
          <p:cNvSpPr/>
          <p:nvPr/>
        </p:nvSpPr>
        <p:spPr>
          <a:xfrm>
            <a:off x="548640" y="228600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Untargeted Counting</a:t>
            </a:r>
            <a:endParaRPr lang="en-US" sz="1200" dirty="0"/>
          </a:p>
        </p:txBody>
      </p:sp>
      <p:sp>
        <p:nvSpPr>
          <p:cNvPr id="10" name="Text 8"/>
          <p:cNvSpPr/>
          <p:nvPr/>
        </p:nvSpPr>
        <p:spPr>
          <a:xfrm>
            <a:off x="548640" y="2651760"/>
            <a:ext cx="1920240" cy="548640"/>
          </a:xfrm>
          <a:prstGeom prst="rect">
            <a:avLst/>
          </a:prstGeom>
          <a:noFill/>
          <a:ln/>
        </p:spPr>
        <p:txBody>
          <a:bodyPr wrap="square" lIns="0" tIns="0" rIns="0" bIns="0" rtlCol="0" anchor="ctr"/>
          <a:lstStyle/>
          <a:p>
            <a:pPr marL="0" indent="0" algn="ctr">
              <a:buNone/>
            </a:pPr>
            <a:r>
              <a:rPr lang="en-US" sz="950" dirty="0">
                <a:solidFill>
                  <a:srgbClr val="CFD1D1"/>
                </a:solidFill>
                <a:latin typeface="Poppins" pitchFamily="34" charset="0"/>
                <a:ea typeface="Poppins" pitchFamily="34" charset="-122"/>
                <a:cs typeface="Poppins" pitchFamily="34" charset="-120"/>
              </a:rPr>
              <a:t>Operators count</a:t>
            </a:r>
            <a:endParaRPr lang="en-US" sz="950" dirty="0"/>
          </a:p>
          <a:p>
            <a:pPr marL="0" indent="0" algn="ctr">
              <a:buNone/>
            </a:pPr>
            <a:r>
              <a:rPr lang="en-US" sz="950" dirty="0">
                <a:solidFill>
                  <a:srgbClr val="CFD1D1"/>
                </a:solidFill>
                <a:latin typeface="Poppins" pitchFamily="34" charset="0"/>
                <a:ea typeface="Poppins" pitchFamily="34" charset="-122"/>
                <a:cs typeface="Poppins" pitchFamily="34" charset="-120"/>
              </a:rPr>
              <a:t>everything equally</a:t>
            </a:r>
            <a:endParaRPr lang="en-US" sz="950" dirty="0"/>
          </a:p>
        </p:txBody>
      </p:sp>
      <p:sp>
        <p:nvSpPr>
          <p:cNvPr id="11" name="Shape 9"/>
          <p:cNvSpPr/>
          <p:nvPr/>
        </p:nvSpPr>
        <p:spPr>
          <a:xfrm>
            <a:off x="2560320" y="2331720"/>
            <a:ext cx="228600" cy="27432"/>
          </a:xfrm>
          <a:prstGeom prst="rect">
            <a:avLst/>
          </a:prstGeom>
          <a:solidFill>
            <a:srgbClr val="00B69F"/>
          </a:solidFill>
          <a:ln/>
        </p:spPr>
        <p:txBody>
          <a:bodyPr/>
          <a:lstStyle/>
          <a:p>
            <a:endParaRPr lang="en-GB"/>
          </a:p>
        </p:txBody>
      </p:sp>
      <p:sp>
        <p:nvSpPr>
          <p:cNvPr id="12" name="Shape 10"/>
          <p:cNvSpPr/>
          <p:nvPr/>
        </p:nvSpPr>
        <p:spPr>
          <a:xfrm>
            <a:off x="2788920" y="1463040"/>
            <a:ext cx="2103120" cy="1828800"/>
          </a:xfrm>
          <a:prstGeom prst="rect">
            <a:avLst/>
          </a:prstGeom>
          <a:solidFill>
            <a:srgbClr val="0C4A7D"/>
          </a:solidFill>
          <a:ln/>
          <a:effectLst>
            <a:outerShdw blurRad="76200" dist="25400" dir="8100000" algn="bl" rotWithShape="0">
              <a:srgbClr val="000000">
                <a:alpha val="10000"/>
              </a:srgbClr>
            </a:outerShdw>
          </a:effectLst>
        </p:spPr>
        <p:txBody>
          <a:bodyPr/>
          <a:lstStyle/>
          <a:p>
            <a:endParaRPr lang="en-GB"/>
          </a:p>
        </p:txBody>
      </p:sp>
      <p:sp>
        <p:nvSpPr>
          <p:cNvPr id="13" name="Shape 11"/>
          <p:cNvSpPr/>
          <p:nvPr/>
        </p:nvSpPr>
        <p:spPr>
          <a:xfrm>
            <a:off x="2788920" y="1463040"/>
            <a:ext cx="2103120" cy="45720"/>
          </a:xfrm>
          <a:prstGeom prst="rect">
            <a:avLst/>
          </a:prstGeom>
          <a:solidFill>
            <a:srgbClr val="FAA51A"/>
          </a:solidFill>
          <a:ln/>
        </p:spPr>
        <p:txBody>
          <a:bodyPr/>
          <a:lstStyle/>
          <a:p>
            <a:endParaRPr lang="en-GB"/>
          </a:p>
        </p:txBody>
      </p:sp>
      <p:sp>
        <p:nvSpPr>
          <p:cNvPr id="14" name="Shape 12"/>
          <p:cNvSpPr/>
          <p:nvPr/>
        </p:nvSpPr>
        <p:spPr>
          <a:xfrm>
            <a:off x="3566160" y="1691640"/>
            <a:ext cx="457200" cy="457200"/>
          </a:xfrm>
          <a:prstGeom prst="ellipse">
            <a:avLst/>
          </a:prstGeom>
          <a:solidFill>
            <a:srgbClr val="FAA51A"/>
          </a:solidFill>
          <a:ln/>
        </p:spPr>
        <p:txBody>
          <a:bodyPr/>
          <a:lstStyle/>
          <a:p>
            <a:endParaRPr lang="en-GB"/>
          </a:p>
        </p:txBody>
      </p:sp>
      <p:sp>
        <p:nvSpPr>
          <p:cNvPr id="15" name="Text 13"/>
          <p:cNvSpPr/>
          <p:nvPr/>
        </p:nvSpPr>
        <p:spPr>
          <a:xfrm>
            <a:off x="3566160" y="1691640"/>
            <a:ext cx="457200" cy="457200"/>
          </a:xfrm>
          <a:prstGeom prst="rect">
            <a:avLst/>
          </a:prstGeom>
          <a:noFill/>
          <a:ln/>
        </p:spPr>
        <p:txBody>
          <a:bodyPr wrap="square" lIns="0" tIns="0" rIns="0" bIns="0" rtlCol="0" anchor="ctr"/>
          <a:lstStyle/>
          <a:p>
            <a:pPr marL="0" indent="0" algn="ctr">
              <a:buNone/>
            </a:pPr>
            <a:r>
              <a:rPr lang="en-US" sz="1600" b="1" dirty="0">
                <a:solidFill>
                  <a:srgbClr val="002747"/>
                </a:solidFill>
                <a:latin typeface="Poppins" pitchFamily="34" charset="0"/>
                <a:ea typeface="Poppins" pitchFamily="34" charset="-122"/>
                <a:cs typeface="Poppins" pitchFamily="34" charset="-120"/>
              </a:rPr>
              <a:t>2</a:t>
            </a:r>
            <a:endParaRPr lang="en-US" sz="1600" dirty="0"/>
          </a:p>
        </p:txBody>
      </p:sp>
      <p:sp>
        <p:nvSpPr>
          <p:cNvPr id="16" name="Text 14"/>
          <p:cNvSpPr/>
          <p:nvPr/>
        </p:nvSpPr>
        <p:spPr>
          <a:xfrm>
            <a:off x="2880360" y="228600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Effort Wasted</a:t>
            </a:r>
            <a:endParaRPr lang="en-US" sz="1200" dirty="0"/>
          </a:p>
        </p:txBody>
      </p:sp>
      <p:sp>
        <p:nvSpPr>
          <p:cNvPr id="17" name="Text 15"/>
          <p:cNvSpPr/>
          <p:nvPr/>
        </p:nvSpPr>
        <p:spPr>
          <a:xfrm>
            <a:off x="2880360" y="2651760"/>
            <a:ext cx="1920240" cy="548640"/>
          </a:xfrm>
          <a:prstGeom prst="rect">
            <a:avLst/>
          </a:prstGeom>
          <a:noFill/>
          <a:ln/>
        </p:spPr>
        <p:txBody>
          <a:bodyPr wrap="square" lIns="0" tIns="0" rIns="0" bIns="0" rtlCol="0" anchor="ctr"/>
          <a:lstStyle/>
          <a:p>
            <a:pPr marL="0" indent="0" algn="ctr">
              <a:buNone/>
            </a:pPr>
            <a:r>
              <a:rPr lang="en-US" sz="950" dirty="0">
                <a:solidFill>
                  <a:srgbClr val="CFD1D1"/>
                </a:solidFill>
                <a:latin typeface="Poppins" pitchFamily="34" charset="0"/>
                <a:ea typeface="Poppins" pitchFamily="34" charset="-122"/>
                <a:cs typeface="Poppins" pitchFamily="34" charset="-120"/>
              </a:rPr>
              <a:t>Hours spent on items</a:t>
            </a:r>
            <a:endParaRPr lang="en-US" sz="950" dirty="0"/>
          </a:p>
          <a:p>
            <a:pPr marL="0" indent="0" algn="ctr">
              <a:buNone/>
            </a:pPr>
            <a:r>
              <a:rPr lang="en-US" sz="950" dirty="0">
                <a:solidFill>
                  <a:srgbClr val="CFD1D1"/>
                </a:solidFill>
                <a:latin typeface="Poppins" pitchFamily="34" charset="0"/>
                <a:ea typeface="Poppins" pitchFamily="34" charset="-122"/>
                <a:cs typeface="Poppins" pitchFamily="34" charset="-120"/>
              </a:rPr>
              <a:t>that rarely have variance</a:t>
            </a:r>
            <a:endParaRPr lang="en-US" sz="950" dirty="0"/>
          </a:p>
        </p:txBody>
      </p:sp>
      <p:sp>
        <p:nvSpPr>
          <p:cNvPr id="18" name="Shape 16"/>
          <p:cNvSpPr/>
          <p:nvPr/>
        </p:nvSpPr>
        <p:spPr>
          <a:xfrm>
            <a:off x="4892040" y="2331720"/>
            <a:ext cx="228600" cy="27432"/>
          </a:xfrm>
          <a:prstGeom prst="rect">
            <a:avLst/>
          </a:prstGeom>
          <a:solidFill>
            <a:srgbClr val="00B69F"/>
          </a:solidFill>
          <a:ln/>
        </p:spPr>
        <p:txBody>
          <a:bodyPr/>
          <a:lstStyle/>
          <a:p>
            <a:endParaRPr lang="en-GB"/>
          </a:p>
        </p:txBody>
      </p:sp>
      <p:sp>
        <p:nvSpPr>
          <p:cNvPr id="19" name="Shape 17"/>
          <p:cNvSpPr/>
          <p:nvPr/>
        </p:nvSpPr>
        <p:spPr>
          <a:xfrm>
            <a:off x="5120640" y="1463040"/>
            <a:ext cx="2103120" cy="1828800"/>
          </a:xfrm>
          <a:prstGeom prst="rect">
            <a:avLst/>
          </a:prstGeom>
          <a:solidFill>
            <a:srgbClr val="0C4A7D"/>
          </a:solidFill>
          <a:ln/>
          <a:effectLst>
            <a:outerShdw blurRad="76200" dist="25400" dir="8100000" algn="bl" rotWithShape="0">
              <a:srgbClr val="000000">
                <a:alpha val="10000"/>
              </a:srgbClr>
            </a:outerShdw>
          </a:effectLst>
        </p:spPr>
        <p:txBody>
          <a:bodyPr/>
          <a:lstStyle/>
          <a:p>
            <a:endParaRPr lang="en-GB"/>
          </a:p>
        </p:txBody>
      </p:sp>
      <p:sp>
        <p:nvSpPr>
          <p:cNvPr id="20" name="Shape 18"/>
          <p:cNvSpPr/>
          <p:nvPr/>
        </p:nvSpPr>
        <p:spPr>
          <a:xfrm>
            <a:off x="5120640" y="1463040"/>
            <a:ext cx="2103120" cy="45720"/>
          </a:xfrm>
          <a:prstGeom prst="rect">
            <a:avLst/>
          </a:prstGeom>
          <a:solidFill>
            <a:srgbClr val="D9373B"/>
          </a:solidFill>
          <a:ln/>
        </p:spPr>
        <p:txBody>
          <a:bodyPr/>
          <a:lstStyle/>
          <a:p>
            <a:endParaRPr lang="en-GB"/>
          </a:p>
        </p:txBody>
      </p:sp>
      <p:sp>
        <p:nvSpPr>
          <p:cNvPr id="21" name="Shape 19"/>
          <p:cNvSpPr/>
          <p:nvPr/>
        </p:nvSpPr>
        <p:spPr>
          <a:xfrm>
            <a:off x="5897880" y="1691640"/>
            <a:ext cx="457200" cy="457200"/>
          </a:xfrm>
          <a:prstGeom prst="ellipse">
            <a:avLst/>
          </a:prstGeom>
          <a:solidFill>
            <a:srgbClr val="D9373B"/>
          </a:solidFill>
          <a:ln/>
        </p:spPr>
        <p:txBody>
          <a:bodyPr/>
          <a:lstStyle/>
          <a:p>
            <a:endParaRPr lang="en-GB"/>
          </a:p>
        </p:txBody>
      </p:sp>
      <p:sp>
        <p:nvSpPr>
          <p:cNvPr id="22" name="Text 20"/>
          <p:cNvSpPr/>
          <p:nvPr/>
        </p:nvSpPr>
        <p:spPr>
          <a:xfrm>
            <a:off x="5897880" y="1691640"/>
            <a:ext cx="457200" cy="457200"/>
          </a:xfrm>
          <a:prstGeom prst="rect">
            <a:avLst/>
          </a:prstGeom>
          <a:noFill/>
          <a:ln/>
        </p:spPr>
        <p:txBody>
          <a:bodyPr wrap="square" lIns="0" tIns="0" rIns="0" bIns="0" rtlCol="0" anchor="ctr"/>
          <a:lstStyle/>
          <a:p>
            <a:pPr marL="0" indent="0" algn="ctr">
              <a:buNone/>
            </a:pPr>
            <a:r>
              <a:rPr lang="en-US" sz="1600" b="1" dirty="0">
                <a:solidFill>
                  <a:srgbClr val="002747"/>
                </a:solidFill>
                <a:latin typeface="Poppins" pitchFamily="34" charset="0"/>
                <a:ea typeface="Poppins" pitchFamily="34" charset="-122"/>
                <a:cs typeface="Poppins" pitchFamily="34" charset="-120"/>
              </a:rPr>
              <a:t>3</a:t>
            </a:r>
            <a:endParaRPr lang="en-US" sz="1600" dirty="0"/>
          </a:p>
        </p:txBody>
      </p:sp>
      <p:sp>
        <p:nvSpPr>
          <p:cNvPr id="23" name="Text 21"/>
          <p:cNvSpPr/>
          <p:nvPr/>
        </p:nvSpPr>
        <p:spPr>
          <a:xfrm>
            <a:off x="5212080" y="228600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Variance Missed</a:t>
            </a:r>
            <a:endParaRPr lang="en-US" sz="1200" dirty="0"/>
          </a:p>
        </p:txBody>
      </p:sp>
      <p:sp>
        <p:nvSpPr>
          <p:cNvPr id="24" name="Text 22"/>
          <p:cNvSpPr/>
          <p:nvPr/>
        </p:nvSpPr>
        <p:spPr>
          <a:xfrm>
            <a:off x="5212080" y="2651760"/>
            <a:ext cx="1920240" cy="548640"/>
          </a:xfrm>
          <a:prstGeom prst="rect">
            <a:avLst/>
          </a:prstGeom>
          <a:noFill/>
          <a:ln/>
        </p:spPr>
        <p:txBody>
          <a:bodyPr wrap="square" lIns="0" tIns="0" rIns="0" bIns="0" rtlCol="0" anchor="ctr"/>
          <a:lstStyle/>
          <a:p>
            <a:pPr marL="0" indent="0" algn="ctr">
              <a:buNone/>
            </a:pPr>
            <a:r>
              <a:rPr lang="en-US" sz="950" dirty="0">
                <a:solidFill>
                  <a:srgbClr val="CFD1D1"/>
                </a:solidFill>
                <a:latin typeface="Poppins" pitchFamily="34" charset="0"/>
                <a:ea typeface="Poppins" pitchFamily="34" charset="-122"/>
                <a:cs typeface="Poppins" pitchFamily="34" charset="-120"/>
              </a:rPr>
              <a:t>High-risk items are not</a:t>
            </a:r>
            <a:endParaRPr lang="en-US" sz="950" dirty="0"/>
          </a:p>
          <a:p>
            <a:pPr marL="0" indent="0" algn="ctr">
              <a:buNone/>
            </a:pPr>
            <a:r>
              <a:rPr lang="en-US" sz="950" dirty="0">
                <a:solidFill>
                  <a:srgbClr val="CFD1D1"/>
                </a:solidFill>
                <a:latin typeface="Poppins" pitchFamily="34" charset="0"/>
                <a:ea typeface="Poppins" pitchFamily="34" charset="-122"/>
                <a:cs typeface="Poppins" pitchFamily="34" charset="-120"/>
              </a:rPr>
              <a:t>caught any sooner</a:t>
            </a:r>
            <a:endParaRPr lang="en-US" sz="950" dirty="0"/>
          </a:p>
        </p:txBody>
      </p:sp>
      <p:sp>
        <p:nvSpPr>
          <p:cNvPr id="25" name="Shape 23"/>
          <p:cNvSpPr/>
          <p:nvPr/>
        </p:nvSpPr>
        <p:spPr>
          <a:xfrm>
            <a:off x="7223760" y="2331720"/>
            <a:ext cx="228600" cy="27432"/>
          </a:xfrm>
          <a:prstGeom prst="rect">
            <a:avLst/>
          </a:prstGeom>
          <a:solidFill>
            <a:srgbClr val="00B69F"/>
          </a:solidFill>
          <a:ln/>
        </p:spPr>
        <p:txBody>
          <a:bodyPr/>
          <a:lstStyle/>
          <a:p>
            <a:endParaRPr lang="en-GB"/>
          </a:p>
        </p:txBody>
      </p:sp>
      <p:sp>
        <p:nvSpPr>
          <p:cNvPr id="26" name="Shape 24"/>
          <p:cNvSpPr/>
          <p:nvPr/>
        </p:nvSpPr>
        <p:spPr>
          <a:xfrm>
            <a:off x="7452360" y="1463040"/>
            <a:ext cx="2103120" cy="1828800"/>
          </a:xfrm>
          <a:prstGeom prst="rect">
            <a:avLst/>
          </a:prstGeom>
          <a:solidFill>
            <a:srgbClr val="0C4A7D"/>
          </a:solidFill>
          <a:ln/>
          <a:effectLst>
            <a:outerShdw blurRad="76200" dist="25400" dir="8100000" algn="bl" rotWithShape="0">
              <a:srgbClr val="000000">
                <a:alpha val="10000"/>
              </a:srgbClr>
            </a:outerShdw>
          </a:effectLst>
        </p:spPr>
        <p:txBody>
          <a:bodyPr/>
          <a:lstStyle/>
          <a:p>
            <a:endParaRPr lang="en-GB"/>
          </a:p>
        </p:txBody>
      </p:sp>
      <p:sp>
        <p:nvSpPr>
          <p:cNvPr id="27" name="Shape 25"/>
          <p:cNvSpPr/>
          <p:nvPr/>
        </p:nvSpPr>
        <p:spPr>
          <a:xfrm>
            <a:off x="7452360" y="1463040"/>
            <a:ext cx="2103120" cy="45720"/>
          </a:xfrm>
          <a:prstGeom prst="rect">
            <a:avLst/>
          </a:prstGeom>
          <a:solidFill>
            <a:srgbClr val="D9373B"/>
          </a:solidFill>
          <a:ln/>
        </p:spPr>
        <p:txBody>
          <a:bodyPr/>
          <a:lstStyle/>
          <a:p>
            <a:endParaRPr lang="en-GB"/>
          </a:p>
        </p:txBody>
      </p:sp>
      <p:sp>
        <p:nvSpPr>
          <p:cNvPr id="28" name="Shape 26"/>
          <p:cNvSpPr/>
          <p:nvPr/>
        </p:nvSpPr>
        <p:spPr>
          <a:xfrm>
            <a:off x="8229600" y="1691640"/>
            <a:ext cx="457200" cy="457200"/>
          </a:xfrm>
          <a:prstGeom prst="ellipse">
            <a:avLst/>
          </a:prstGeom>
          <a:solidFill>
            <a:srgbClr val="D9373B"/>
          </a:solidFill>
          <a:ln/>
        </p:spPr>
        <p:txBody>
          <a:bodyPr/>
          <a:lstStyle/>
          <a:p>
            <a:endParaRPr lang="en-GB"/>
          </a:p>
        </p:txBody>
      </p:sp>
      <p:sp>
        <p:nvSpPr>
          <p:cNvPr id="29" name="Text 27"/>
          <p:cNvSpPr/>
          <p:nvPr/>
        </p:nvSpPr>
        <p:spPr>
          <a:xfrm>
            <a:off x="8229600" y="1691640"/>
            <a:ext cx="457200" cy="457200"/>
          </a:xfrm>
          <a:prstGeom prst="rect">
            <a:avLst/>
          </a:prstGeom>
          <a:noFill/>
          <a:ln/>
        </p:spPr>
        <p:txBody>
          <a:bodyPr wrap="square" lIns="0" tIns="0" rIns="0" bIns="0" rtlCol="0" anchor="ctr"/>
          <a:lstStyle/>
          <a:p>
            <a:pPr marL="0" indent="0" algn="ctr">
              <a:buNone/>
            </a:pPr>
            <a:r>
              <a:rPr lang="en-US" sz="1600" b="1" dirty="0">
                <a:solidFill>
                  <a:srgbClr val="002747"/>
                </a:solidFill>
                <a:latin typeface="Poppins" pitchFamily="34" charset="0"/>
                <a:ea typeface="Poppins" pitchFamily="34" charset="-122"/>
                <a:cs typeface="Poppins" pitchFamily="34" charset="-120"/>
              </a:rPr>
              <a:t>4</a:t>
            </a:r>
            <a:endParaRPr lang="en-US" sz="1600" dirty="0"/>
          </a:p>
        </p:txBody>
      </p:sp>
      <p:sp>
        <p:nvSpPr>
          <p:cNvPr id="30" name="Text 28"/>
          <p:cNvSpPr/>
          <p:nvPr/>
        </p:nvSpPr>
        <p:spPr>
          <a:xfrm>
            <a:off x="7543800" y="228600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Damage Done</a:t>
            </a:r>
            <a:endParaRPr lang="en-US" sz="1200" dirty="0"/>
          </a:p>
        </p:txBody>
      </p:sp>
      <p:sp>
        <p:nvSpPr>
          <p:cNvPr id="31" name="Text 29"/>
          <p:cNvSpPr/>
          <p:nvPr/>
        </p:nvSpPr>
        <p:spPr>
          <a:xfrm>
            <a:off x="7543800" y="2651760"/>
            <a:ext cx="1920240" cy="548640"/>
          </a:xfrm>
          <a:prstGeom prst="rect">
            <a:avLst/>
          </a:prstGeom>
          <a:noFill/>
          <a:ln/>
        </p:spPr>
        <p:txBody>
          <a:bodyPr wrap="square" lIns="0" tIns="0" rIns="0" bIns="0" rtlCol="0" anchor="ctr"/>
          <a:lstStyle/>
          <a:p>
            <a:pPr marL="0" indent="0" algn="ctr">
              <a:buNone/>
            </a:pPr>
            <a:r>
              <a:rPr lang="en-US" sz="950" dirty="0">
                <a:solidFill>
                  <a:srgbClr val="CFD1D1"/>
                </a:solidFill>
                <a:latin typeface="Poppins" pitchFamily="34" charset="0"/>
                <a:ea typeface="Poppins" pitchFamily="34" charset="-122"/>
                <a:cs typeface="Poppins" pitchFamily="34" charset="-120"/>
              </a:rPr>
              <a:t>Availability gaps, waste,</a:t>
            </a:r>
            <a:endParaRPr lang="en-US" sz="950" dirty="0"/>
          </a:p>
          <a:p>
            <a:pPr marL="0" indent="0" algn="ctr">
              <a:buNone/>
            </a:pPr>
            <a:r>
              <a:rPr lang="en-US" sz="950" dirty="0">
                <a:solidFill>
                  <a:srgbClr val="CFD1D1"/>
                </a:solidFill>
                <a:latin typeface="Poppins" pitchFamily="34" charset="0"/>
                <a:ea typeface="Poppins" pitchFamily="34" charset="-122"/>
                <a:cs typeface="Poppins" pitchFamily="34" charset="-120"/>
              </a:rPr>
              <a:t>financial surprises</a:t>
            </a:r>
            <a:endParaRPr lang="en-US" sz="950" dirty="0"/>
          </a:p>
        </p:txBody>
      </p:sp>
      <p:sp>
        <p:nvSpPr>
          <p:cNvPr id="32" name="Shape 30"/>
          <p:cNvSpPr/>
          <p:nvPr/>
        </p:nvSpPr>
        <p:spPr>
          <a:xfrm>
            <a:off x="9555480" y="2331720"/>
            <a:ext cx="228600" cy="27432"/>
          </a:xfrm>
          <a:prstGeom prst="rect">
            <a:avLst/>
          </a:prstGeom>
          <a:solidFill>
            <a:srgbClr val="00B69F"/>
          </a:solidFill>
          <a:ln/>
        </p:spPr>
        <p:txBody>
          <a:bodyPr/>
          <a:lstStyle/>
          <a:p>
            <a:endParaRPr lang="en-GB"/>
          </a:p>
        </p:txBody>
      </p:sp>
      <p:sp>
        <p:nvSpPr>
          <p:cNvPr id="33" name="Shape 31"/>
          <p:cNvSpPr/>
          <p:nvPr/>
        </p:nvSpPr>
        <p:spPr>
          <a:xfrm>
            <a:off x="9784080" y="1463040"/>
            <a:ext cx="2103120" cy="1828800"/>
          </a:xfrm>
          <a:prstGeom prst="rect">
            <a:avLst/>
          </a:prstGeom>
          <a:solidFill>
            <a:srgbClr val="0C4A7D"/>
          </a:solidFill>
          <a:ln/>
          <a:effectLst>
            <a:outerShdw blurRad="76200" dist="25400" dir="8100000" algn="bl" rotWithShape="0">
              <a:srgbClr val="000000">
                <a:alpha val="10000"/>
              </a:srgbClr>
            </a:outerShdw>
          </a:effectLst>
        </p:spPr>
        <p:txBody>
          <a:bodyPr/>
          <a:lstStyle/>
          <a:p>
            <a:endParaRPr lang="en-GB"/>
          </a:p>
        </p:txBody>
      </p:sp>
      <p:sp>
        <p:nvSpPr>
          <p:cNvPr id="34" name="Shape 32"/>
          <p:cNvSpPr/>
          <p:nvPr/>
        </p:nvSpPr>
        <p:spPr>
          <a:xfrm>
            <a:off x="9784080" y="1463040"/>
            <a:ext cx="2103120" cy="45720"/>
          </a:xfrm>
          <a:prstGeom prst="rect">
            <a:avLst/>
          </a:prstGeom>
          <a:solidFill>
            <a:srgbClr val="CFD1D1"/>
          </a:solidFill>
          <a:ln/>
        </p:spPr>
        <p:txBody>
          <a:bodyPr/>
          <a:lstStyle/>
          <a:p>
            <a:endParaRPr lang="en-GB"/>
          </a:p>
        </p:txBody>
      </p:sp>
      <p:sp>
        <p:nvSpPr>
          <p:cNvPr id="35" name="Shape 33"/>
          <p:cNvSpPr/>
          <p:nvPr/>
        </p:nvSpPr>
        <p:spPr>
          <a:xfrm>
            <a:off x="10561320" y="1691640"/>
            <a:ext cx="457200" cy="457200"/>
          </a:xfrm>
          <a:prstGeom prst="ellipse">
            <a:avLst/>
          </a:prstGeom>
          <a:solidFill>
            <a:srgbClr val="CFD1D1"/>
          </a:solidFill>
          <a:ln/>
        </p:spPr>
        <p:txBody>
          <a:bodyPr/>
          <a:lstStyle/>
          <a:p>
            <a:endParaRPr lang="en-GB"/>
          </a:p>
        </p:txBody>
      </p:sp>
      <p:sp>
        <p:nvSpPr>
          <p:cNvPr id="36" name="Text 34"/>
          <p:cNvSpPr/>
          <p:nvPr/>
        </p:nvSpPr>
        <p:spPr>
          <a:xfrm>
            <a:off x="10561320" y="1691640"/>
            <a:ext cx="457200" cy="457200"/>
          </a:xfrm>
          <a:prstGeom prst="rect">
            <a:avLst/>
          </a:prstGeom>
          <a:noFill/>
          <a:ln/>
        </p:spPr>
        <p:txBody>
          <a:bodyPr wrap="square" lIns="0" tIns="0" rIns="0" bIns="0" rtlCol="0" anchor="ctr"/>
          <a:lstStyle/>
          <a:p>
            <a:pPr marL="0" indent="0" algn="ctr">
              <a:buNone/>
            </a:pPr>
            <a:r>
              <a:rPr lang="en-US" sz="1600" b="1" dirty="0">
                <a:solidFill>
                  <a:srgbClr val="002747"/>
                </a:solidFill>
                <a:latin typeface="Poppins" pitchFamily="34" charset="0"/>
                <a:ea typeface="Poppins" pitchFamily="34" charset="-122"/>
                <a:cs typeface="Poppins" pitchFamily="34" charset="-120"/>
              </a:rPr>
              <a:t>5</a:t>
            </a:r>
            <a:endParaRPr lang="en-US" sz="1600" dirty="0"/>
          </a:p>
        </p:txBody>
      </p:sp>
      <p:sp>
        <p:nvSpPr>
          <p:cNvPr id="37" name="Text 35"/>
          <p:cNvSpPr/>
          <p:nvPr/>
        </p:nvSpPr>
        <p:spPr>
          <a:xfrm>
            <a:off x="9875520" y="228600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Poppins" pitchFamily="34" charset="0"/>
                <a:ea typeface="Poppins" pitchFamily="34" charset="-122"/>
                <a:cs typeface="Poppins" pitchFamily="34" charset="-120"/>
              </a:rPr>
              <a:t>No Feedback</a:t>
            </a:r>
            <a:endParaRPr lang="en-US" sz="1200" dirty="0"/>
          </a:p>
        </p:txBody>
      </p:sp>
      <p:sp>
        <p:nvSpPr>
          <p:cNvPr id="38" name="Text 36"/>
          <p:cNvSpPr/>
          <p:nvPr/>
        </p:nvSpPr>
        <p:spPr>
          <a:xfrm>
            <a:off x="9875520" y="2651760"/>
            <a:ext cx="1920240" cy="548640"/>
          </a:xfrm>
          <a:prstGeom prst="rect">
            <a:avLst/>
          </a:prstGeom>
          <a:noFill/>
          <a:ln/>
        </p:spPr>
        <p:txBody>
          <a:bodyPr wrap="square" lIns="0" tIns="0" rIns="0" bIns="0" rtlCol="0" anchor="ctr"/>
          <a:lstStyle/>
          <a:p>
            <a:pPr marL="0" indent="0" algn="ctr">
              <a:buNone/>
            </a:pPr>
            <a:r>
              <a:rPr lang="en-US" sz="950" dirty="0">
                <a:solidFill>
                  <a:srgbClr val="CFD1D1"/>
                </a:solidFill>
                <a:latin typeface="Poppins" pitchFamily="34" charset="0"/>
                <a:ea typeface="Poppins" pitchFamily="34" charset="-122"/>
                <a:cs typeface="Poppins" pitchFamily="34" charset="-120"/>
              </a:rPr>
              <a:t>Next cycle repeats</a:t>
            </a:r>
            <a:endParaRPr lang="en-US" sz="950" dirty="0"/>
          </a:p>
          <a:p>
            <a:pPr marL="0" indent="0" algn="ctr">
              <a:buNone/>
            </a:pPr>
            <a:r>
              <a:rPr lang="en-US" sz="950" dirty="0">
                <a:solidFill>
                  <a:srgbClr val="CFD1D1"/>
                </a:solidFill>
                <a:latin typeface="Poppins" pitchFamily="34" charset="0"/>
                <a:ea typeface="Poppins" pitchFamily="34" charset="-122"/>
                <a:cs typeface="Poppins" pitchFamily="34" charset="-120"/>
              </a:rPr>
              <a:t>the same pattern</a:t>
            </a:r>
            <a:endParaRPr lang="en-US" sz="950" dirty="0"/>
          </a:p>
        </p:txBody>
      </p:sp>
      <p:sp>
        <p:nvSpPr>
          <p:cNvPr id="39" name="Shape 37"/>
          <p:cNvSpPr/>
          <p:nvPr/>
        </p:nvSpPr>
        <p:spPr>
          <a:xfrm>
            <a:off x="731520" y="3749040"/>
            <a:ext cx="10698480" cy="1463040"/>
          </a:xfrm>
          <a:prstGeom prst="rect">
            <a:avLst/>
          </a:prstGeom>
          <a:solidFill>
            <a:srgbClr val="0C4A7D"/>
          </a:solidFill>
          <a:ln/>
          <a:effectLst>
            <a:outerShdw blurRad="76200" dist="25400" dir="8100000" algn="bl" rotWithShape="0">
              <a:srgbClr val="000000">
                <a:alpha val="10000"/>
              </a:srgbClr>
            </a:outerShdw>
          </a:effectLst>
        </p:spPr>
        <p:txBody>
          <a:bodyPr/>
          <a:lstStyle/>
          <a:p>
            <a:endParaRPr lang="en-GB"/>
          </a:p>
        </p:txBody>
      </p:sp>
      <p:sp>
        <p:nvSpPr>
          <p:cNvPr id="40" name="Text 38"/>
          <p:cNvSpPr/>
          <p:nvPr/>
        </p:nvSpPr>
        <p:spPr>
          <a:xfrm>
            <a:off x="1097280" y="3840480"/>
            <a:ext cx="3657600" cy="320040"/>
          </a:xfrm>
          <a:prstGeom prst="rect">
            <a:avLst/>
          </a:prstGeom>
          <a:noFill/>
          <a:ln/>
        </p:spPr>
        <p:txBody>
          <a:bodyPr wrap="square" lIns="0" tIns="0" rIns="0" bIns="0" rtlCol="0" anchor="ctr"/>
          <a:lstStyle/>
          <a:p>
            <a:pPr marL="0" indent="0">
              <a:buNone/>
            </a:pPr>
            <a:r>
              <a:rPr lang="en-US" sz="1400" b="1" dirty="0">
                <a:solidFill>
                  <a:srgbClr val="00B69F"/>
                </a:solidFill>
                <a:latin typeface="Poppins" pitchFamily="34" charset="0"/>
                <a:ea typeface="Poppins" pitchFamily="34" charset="-122"/>
                <a:cs typeface="Poppins" pitchFamily="34" charset="-120"/>
              </a:rPr>
              <a:t>What This Costs You</a:t>
            </a:r>
            <a:endParaRPr lang="en-US" sz="1400" dirty="0"/>
          </a:p>
        </p:txBody>
      </p:sp>
      <p:sp>
        <p:nvSpPr>
          <p:cNvPr id="41" name="Text 39"/>
          <p:cNvSpPr/>
          <p:nvPr/>
        </p:nvSpPr>
        <p:spPr>
          <a:xfrm>
            <a:off x="1097280" y="4251960"/>
            <a:ext cx="2011680" cy="411480"/>
          </a:xfrm>
          <a:prstGeom prst="rect">
            <a:avLst/>
          </a:prstGeom>
          <a:noFill/>
          <a:ln/>
        </p:spPr>
        <p:txBody>
          <a:bodyPr wrap="square" lIns="0" tIns="0" rIns="0" bIns="0" rtlCol="0" anchor="ctr"/>
          <a:lstStyle/>
          <a:p>
            <a:pPr marL="0" indent="0">
              <a:buNone/>
            </a:pPr>
            <a:r>
              <a:rPr lang="en-US" sz="2800" b="1" dirty="0">
                <a:solidFill>
                  <a:srgbClr val="00B69F"/>
                </a:solidFill>
                <a:latin typeface="Poppins" pitchFamily="34" charset="0"/>
                <a:ea typeface="Poppins" pitchFamily="34" charset="-122"/>
                <a:cs typeface="Poppins" pitchFamily="34" charset="-120"/>
              </a:rPr>
              <a:t>£000s</a:t>
            </a:r>
            <a:endParaRPr lang="en-US" sz="2800" dirty="0"/>
          </a:p>
        </p:txBody>
      </p:sp>
      <p:sp>
        <p:nvSpPr>
          <p:cNvPr id="42" name="Text 40"/>
          <p:cNvSpPr/>
          <p:nvPr/>
        </p:nvSpPr>
        <p:spPr>
          <a:xfrm>
            <a:off x="1097280" y="4709160"/>
            <a:ext cx="2011680" cy="411480"/>
          </a:xfrm>
          <a:prstGeom prst="rect">
            <a:avLst/>
          </a:prstGeom>
          <a:noFill/>
          <a:ln/>
        </p:spPr>
        <p:txBody>
          <a:bodyPr wrap="square" lIns="0" tIns="0" rIns="0" bIns="0" rtlCol="0" anchor="ctr"/>
          <a:lstStyle/>
          <a:p>
            <a:pPr marL="0" indent="0">
              <a:buNone/>
            </a:pPr>
            <a:r>
              <a:rPr lang="en-US" sz="1000" dirty="0">
                <a:solidFill>
                  <a:srgbClr val="CFD1D1"/>
                </a:solidFill>
                <a:latin typeface="Poppins" pitchFamily="34" charset="0"/>
                <a:ea typeface="Poppins" pitchFamily="34" charset="-122"/>
                <a:cs typeface="Poppins" pitchFamily="34" charset="-120"/>
              </a:rPr>
              <a:t>in variance going</a:t>
            </a:r>
            <a:endParaRPr lang="en-US" sz="1000" dirty="0"/>
          </a:p>
          <a:p>
            <a:pPr marL="0" indent="0">
              <a:buNone/>
            </a:pPr>
            <a:r>
              <a:rPr lang="en-US" sz="1000" dirty="0">
                <a:solidFill>
                  <a:srgbClr val="CFD1D1"/>
                </a:solidFill>
                <a:latin typeface="Poppins" pitchFamily="34" charset="0"/>
                <a:ea typeface="Poppins" pitchFamily="34" charset="-122"/>
                <a:cs typeface="Poppins" pitchFamily="34" charset="-120"/>
              </a:rPr>
              <a:t>undetected weekly</a:t>
            </a:r>
            <a:endParaRPr lang="en-US" sz="1000" dirty="0"/>
          </a:p>
        </p:txBody>
      </p:sp>
      <p:sp>
        <p:nvSpPr>
          <p:cNvPr id="43" name="Text 41"/>
          <p:cNvSpPr/>
          <p:nvPr/>
        </p:nvSpPr>
        <p:spPr>
          <a:xfrm>
            <a:off x="3703320" y="4251960"/>
            <a:ext cx="2011680" cy="411480"/>
          </a:xfrm>
          <a:prstGeom prst="rect">
            <a:avLst/>
          </a:prstGeom>
          <a:noFill/>
          <a:ln/>
        </p:spPr>
        <p:txBody>
          <a:bodyPr wrap="square" lIns="0" tIns="0" rIns="0" bIns="0" rtlCol="0" anchor="ctr"/>
          <a:lstStyle/>
          <a:p>
            <a:pPr marL="0" indent="0">
              <a:buNone/>
            </a:pPr>
            <a:r>
              <a:rPr lang="en-US" sz="2800" b="1" dirty="0">
                <a:solidFill>
                  <a:srgbClr val="00B69F"/>
                </a:solidFill>
                <a:latin typeface="Poppins" pitchFamily="34" charset="0"/>
                <a:ea typeface="Poppins" pitchFamily="34" charset="-122"/>
                <a:cs typeface="Poppins" pitchFamily="34" charset="-120"/>
              </a:rPr>
              <a:t>40%+</a:t>
            </a:r>
            <a:endParaRPr lang="en-US" sz="2800" dirty="0"/>
          </a:p>
        </p:txBody>
      </p:sp>
      <p:sp>
        <p:nvSpPr>
          <p:cNvPr id="44" name="Text 42"/>
          <p:cNvSpPr/>
          <p:nvPr/>
        </p:nvSpPr>
        <p:spPr>
          <a:xfrm>
            <a:off x="3703320" y="4709160"/>
            <a:ext cx="2011680" cy="411480"/>
          </a:xfrm>
          <a:prstGeom prst="rect">
            <a:avLst/>
          </a:prstGeom>
          <a:noFill/>
          <a:ln/>
        </p:spPr>
        <p:txBody>
          <a:bodyPr wrap="square" lIns="0" tIns="0" rIns="0" bIns="0" rtlCol="0" anchor="ctr"/>
          <a:lstStyle/>
          <a:p>
            <a:pPr marL="0" indent="0">
              <a:buNone/>
            </a:pPr>
            <a:r>
              <a:rPr lang="en-US" sz="1000" dirty="0">
                <a:solidFill>
                  <a:srgbClr val="CFD1D1"/>
                </a:solidFill>
                <a:latin typeface="Poppins" pitchFamily="34" charset="0"/>
                <a:ea typeface="Poppins" pitchFamily="34" charset="-122"/>
                <a:cs typeface="Poppins" pitchFamily="34" charset="-120"/>
              </a:rPr>
              <a:t>of counting hours</a:t>
            </a:r>
            <a:endParaRPr lang="en-US" sz="1000" dirty="0"/>
          </a:p>
          <a:p>
            <a:pPr marL="0" indent="0">
              <a:buNone/>
            </a:pPr>
            <a:r>
              <a:rPr lang="en-US" sz="1000" dirty="0">
                <a:solidFill>
                  <a:srgbClr val="CFD1D1"/>
                </a:solidFill>
                <a:latin typeface="Poppins" pitchFamily="34" charset="0"/>
                <a:ea typeface="Poppins" pitchFamily="34" charset="-122"/>
                <a:cs typeface="Poppins" pitchFamily="34" charset="-120"/>
              </a:rPr>
              <a:t>adding no value</a:t>
            </a:r>
            <a:endParaRPr lang="en-US" sz="1000" dirty="0"/>
          </a:p>
        </p:txBody>
      </p:sp>
      <p:sp>
        <p:nvSpPr>
          <p:cNvPr id="45" name="Text 43"/>
          <p:cNvSpPr/>
          <p:nvPr/>
        </p:nvSpPr>
        <p:spPr>
          <a:xfrm>
            <a:off x="6309360" y="4251960"/>
            <a:ext cx="2011680" cy="411480"/>
          </a:xfrm>
          <a:prstGeom prst="rect">
            <a:avLst/>
          </a:prstGeom>
          <a:noFill/>
          <a:ln/>
        </p:spPr>
        <p:txBody>
          <a:bodyPr wrap="square" lIns="0" tIns="0" rIns="0" bIns="0" rtlCol="0" anchor="ctr"/>
          <a:lstStyle/>
          <a:p>
            <a:pPr marL="0" indent="0">
              <a:buNone/>
            </a:pPr>
            <a:r>
              <a:rPr lang="en-US" sz="2800" b="1" dirty="0">
                <a:solidFill>
                  <a:srgbClr val="00B69F"/>
                </a:solidFill>
                <a:latin typeface="Poppins" pitchFamily="34" charset="0"/>
                <a:ea typeface="Poppins" pitchFamily="34" charset="-122"/>
                <a:cs typeface="Poppins" pitchFamily="34" charset="-120"/>
              </a:rPr>
              <a:t>Hours</a:t>
            </a:r>
            <a:endParaRPr lang="en-US" sz="2800" dirty="0"/>
          </a:p>
        </p:txBody>
      </p:sp>
      <p:sp>
        <p:nvSpPr>
          <p:cNvPr id="46" name="Text 44"/>
          <p:cNvSpPr/>
          <p:nvPr/>
        </p:nvSpPr>
        <p:spPr>
          <a:xfrm>
            <a:off x="6309360" y="4709160"/>
            <a:ext cx="2011680" cy="411480"/>
          </a:xfrm>
          <a:prstGeom prst="rect">
            <a:avLst/>
          </a:prstGeom>
          <a:noFill/>
          <a:ln/>
        </p:spPr>
        <p:txBody>
          <a:bodyPr wrap="square" lIns="0" tIns="0" rIns="0" bIns="0" rtlCol="0" anchor="ctr"/>
          <a:lstStyle/>
          <a:p>
            <a:pPr marL="0" indent="0">
              <a:buNone/>
            </a:pPr>
            <a:r>
              <a:rPr lang="en-US" sz="1000" dirty="0">
                <a:solidFill>
                  <a:srgbClr val="CFD1D1"/>
                </a:solidFill>
                <a:latin typeface="Poppins" pitchFamily="34" charset="0"/>
                <a:ea typeface="Poppins" pitchFamily="34" charset="-122"/>
                <a:cs typeface="Poppins" pitchFamily="34" charset="-120"/>
              </a:rPr>
              <a:t>of operator time that</a:t>
            </a:r>
            <a:endParaRPr lang="en-US" sz="1000" dirty="0"/>
          </a:p>
          <a:p>
            <a:pPr marL="0" indent="0">
              <a:buNone/>
            </a:pPr>
            <a:r>
              <a:rPr lang="en-US" sz="1000" dirty="0">
                <a:solidFill>
                  <a:srgbClr val="CFD1D1"/>
                </a:solidFill>
                <a:latin typeface="Poppins" pitchFamily="34" charset="0"/>
                <a:ea typeface="Poppins" pitchFamily="34" charset="-122"/>
                <a:cs typeface="Poppins" pitchFamily="34" charset="-120"/>
              </a:rPr>
              <a:t>could go to service</a:t>
            </a:r>
            <a:endParaRPr lang="en-US" sz="1000" dirty="0"/>
          </a:p>
        </p:txBody>
      </p:sp>
      <p:sp>
        <p:nvSpPr>
          <p:cNvPr id="47" name="Text 45"/>
          <p:cNvSpPr/>
          <p:nvPr/>
        </p:nvSpPr>
        <p:spPr>
          <a:xfrm>
            <a:off x="8915400" y="4251960"/>
            <a:ext cx="2011680" cy="411480"/>
          </a:xfrm>
          <a:prstGeom prst="rect">
            <a:avLst/>
          </a:prstGeom>
          <a:noFill/>
          <a:ln/>
        </p:spPr>
        <p:txBody>
          <a:bodyPr wrap="square" lIns="0" tIns="0" rIns="0" bIns="0" rtlCol="0" anchor="ctr"/>
          <a:lstStyle/>
          <a:p>
            <a:pPr marL="0" indent="0">
              <a:buNone/>
            </a:pPr>
            <a:r>
              <a:rPr lang="en-US" sz="2800" b="1" dirty="0">
                <a:solidFill>
                  <a:srgbClr val="00B69F"/>
                </a:solidFill>
                <a:latin typeface="Poppins" pitchFamily="34" charset="0"/>
                <a:ea typeface="Poppins" pitchFamily="34" charset="-122"/>
                <a:cs typeface="Poppins" pitchFamily="34" charset="-120"/>
              </a:rPr>
              <a:t>Zero</a:t>
            </a:r>
            <a:endParaRPr lang="en-US" sz="2800" dirty="0"/>
          </a:p>
        </p:txBody>
      </p:sp>
      <p:sp>
        <p:nvSpPr>
          <p:cNvPr id="48" name="Text 46"/>
          <p:cNvSpPr/>
          <p:nvPr/>
        </p:nvSpPr>
        <p:spPr>
          <a:xfrm>
            <a:off x="8915400" y="4709160"/>
            <a:ext cx="2011680" cy="411480"/>
          </a:xfrm>
          <a:prstGeom prst="rect">
            <a:avLst/>
          </a:prstGeom>
          <a:noFill/>
          <a:ln/>
        </p:spPr>
        <p:txBody>
          <a:bodyPr wrap="square" lIns="0" tIns="0" rIns="0" bIns="0" rtlCol="0" anchor="ctr"/>
          <a:lstStyle/>
          <a:p>
            <a:pPr marL="0" indent="0">
              <a:buNone/>
            </a:pPr>
            <a:r>
              <a:rPr lang="en-US" sz="1000" dirty="0">
                <a:solidFill>
                  <a:srgbClr val="CFD1D1"/>
                </a:solidFill>
                <a:latin typeface="Poppins" pitchFamily="34" charset="0"/>
                <a:ea typeface="Poppins" pitchFamily="34" charset="-122"/>
                <a:cs typeface="Poppins" pitchFamily="34" charset="-120"/>
              </a:rPr>
              <a:t>feedback improving</a:t>
            </a:r>
            <a:endParaRPr lang="en-US" sz="1000" dirty="0"/>
          </a:p>
          <a:p>
            <a:pPr marL="0" indent="0">
              <a:buNone/>
            </a:pPr>
            <a:r>
              <a:rPr lang="en-US" sz="1000" dirty="0">
                <a:solidFill>
                  <a:srgbClr val="CFD1D1"/>
                </a:solidFill>
                <a:latin typeface="Poppins" pitchFamily="34" charset="0"/>
                <a:ea typeface="Poppins" pitchFamily="34" charset="-122"/>
                <a:cs typeface="Poppins" pitchFamily="34" charset="-120"/>
              </a:rPr>
              <a:t>the next cycle</a:t>
            </a:r>
            <a:endParaRPr lang="en-US" sz="1000" dirty="0"/>
          </a:p>
        </p:txBody>
      </p:sp>
      <p:sp>
        <p:nvSpPr>
          <p:cNvPr id="49" name="Shape 47"/>
          <p:cNvSpPr/>
          <p:nvPr/>
        </p:nvSpPr>
        <p:spPr>
          <a:xfrm>
            <a:off x="731520" y="5486400"/>
            <a:ext cx="10698480" cy="640080"/>
          </a:xfrm>
          <a:prstGeom prst="rect">
            <a:avLst/>
          </a:prstGeom>
          <a:solidFill>
            <a:srgbClr val="00B69F"/>
          </a:solidFill>
          <a:ln/>
        </p:spPr>
        <p:txBody>
          <a:bodyPr/>
          <a:lstStyle/>
          <a:p>
            <a:endParaRPr lang="en-GB"/>
          </a:p>
        </p:txBody>
      </p:sp>
      <p:pic>
        <p:nvPicPr>
          <p:cNvPr id="50" name="Image 0" descr="preencoded.png"/>
          <p:cNvPicPr>
            <a:picLocks noChangeAspect="1"/>
          </p:cNvPicPr>
          <p:nvPr/>
        </p:nvPicPr>
        <p:blipFill>
          <a:blip r:embed="rId3"/>
          <a:stretch>
            <a:fillRect/>
          </a:stretch>
        </p:blipFill>
        <p:spPr>
          <a:xfrm>
            <a:off x="1005840" y="5596128"/>
            <a:ext cx="365760" cy="365760"/>
          </a:xfrm>
          <a:prstGeom prst="rect">
            <a:avLst/>
          </a:prstGeom>
        </p:spPr>
      </p:pic>
      <p:sp>
        <p:nvSpPr>
          <p:cNvPr id="51" name="Text 48"/>
          <p:cNvSpPr/>
          <p:nvPr/>
        </p:nvSpPr>
        <p:spPr>
          <a:xfrm>
            <a:off x="1554480" y="5577840"/>
            <a:ext cx="9144000" cy="45720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Does this match your experience? Where do you feel the pain most?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274320"/>
            <a:ext cx="10058400" cy="54864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What Changes</a:t>
            </a:r>
            <a:endParaRPr lang="en-US" sz="2800" dirty="0"/>
          </a:p>
        </p:txBody>
      </p:sp>
      <p:sp>
        <p:nvSpPr>
          <p:cNvPr id="4" name="Text 2"/>
          <p:cNvSpPr/>
          <p:nvPr/>
        </p:nvSpPr>
        <p:spPr>
          <a:xfrm>
            <a:off x="731520" y="777240"/>
            <a:ext cx="9144000" cy="320040"/>
          </a:xfrm>
          <a:prstGeom prst="rect">
            <a:avLst/>
          </a:prstGeom>
          <a:noFill/>
          <a:ln/>
        </p:spPr>
        <p:txBody>
          <a:bodyPr wrap="square" lIns="0" tIns="0" rIns="0" bIns="0" rtlCol="0" anchor="ctr"/>
          <a:lstStyle/>
          <a:p>
            <a:pPr marL="0" indent="0">
              <a:buNone/>
            </a:pPr>
            <a:r>
              <a:rPr lang="en-US" sz="1300" i="1" dirty="0">
                <a:solidFill>
                  <a:srgbClr val="0C4A7D"/>
                </a:solidFill>
                <a:latin typeface="Poppins" pitchFamily="34" charset="0"/>
                <a:ea typeface="Poppins" pitchFamily="34" charset="-122"/>
                <a:cs typeface="Poppins" pitchFamily="34" charset="-120"/>
              </a:rPr>
              <a:t>A Tuesday morning at one of your sites. Same team, same stock, different approach.</a:t>
            </a:r>
            <a:endParaRPr lang="en-US" sz="1300" dirty="0"/>
          </a:p>
        </p:txBody>
      </p:sp>
      <p:sp>
        <p:nvSpPr>
          <p:cNvPr id="5" name="Shape 3"/>
          <p:cNvSpPr/>
          <p:nvPr/>
        </p:nvSpPr>
        <p:spPr>
          <a:xfrm>
            <a:off x="731520" y="1280160"/>
            <a:ext cx="5303520" cy="484632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731520" y="1280160"/>
            <a:ext cx="5303520" cy="457200"/>
          </a:xfrm>
          <a:prstGeom prst="rect">
            <a:avLst/>
          </a:prstGeom>
          <a:solidFill>
            <a:srgbClr val="D9373B"/>
          </a:solidFill>
          <a:ln/>
        </p:spPr>
        <p:txBody>
          <a:bodyPr/>
          <a:lstStyle/>
          <a:p>
            <a:endParaRPr lang="en-GB"/>
          </a:p>
        </p:txBody>
      </p:sp>
      <p:sp>
        <p:nvSpPr>
          <p:cNvPr id="7" name="Text 5"/>
          <p:cNvSpPr/>
          <p:nvPr/>
        </p:nvSpPr>
        <p:spPr>
          <a:xfrm>
            <a:off x="914400" y="1298448"/>
            <a:ext cx="1828800" cy="411480"/>
          </a:xfrm>
          <a:prstGeom prst="rect">
            <a:avLst/>
          </a:prstGeom>
          <a:noFill/>
          <a:ln/>
        </p:spPr>
        <p:txBody>
          <a:bodyPr wrap="square" lIns="0" tIns="0" rIns="0" bIns="0" rtlCol="0" anchor="ctr"/>
          <a:lstStyle/>
          <a:p>
            <a:pPr marL="0" indent="0">
              <a:buNone/>
            </a:pPr>
            <a:r>
              <a:rPr lang="en-US" sz="1800" b="1" dirty="0">
                <a:solidFill>
                  <a:srgbClr val="FFFFFF"/>
                </a:solidFill>
                <a:latin typeface="Poppins" pitchFamily="34" charset="0"/>
                <a:ea typeface="Poppins" pitchFamily="34" charset="-122"/>
                <a:cs typeface="Poppins" pitchFamily="34" charset="-120"/>
              </a:rPr>
              <a:t>Today</a:t>
            </a:r>
            <a:endParaRPr lang="en-US" sz="1800" dirty="0"/>
          </a:p>
        </p:txBody>
      </p:sp>
      <p:sp>
        <p:nvSpPr>
          <p:cNvPr id="8" name="Text 6"/>
          <p:cNvSpPr/>
          <p:nvPr/>
        </p:nvSpPr>
        <p:spPr>
          <a:xfrm>
            <a:off x="2743200" y="1316736"/>
            <a:ext cx="3108960" cy="384048"/>
          </a:xfrm>
          <a:prstGeom prst="rect">
            <a:avLst/>
          </a:prstGeom>
          <a:noFill/>
          <a:ln/>
        </p:spPr>
        <p:txBody>
          <a:bodyPr wrap="square" lIns="0" tIns="0" rIns="0" bIns="0" rtlCol="0" anchor="ctr"/>
          <a:lstStyle/>
          <a:p>
            <a:pPr marL="0" indent="0">
              <a:buNone/>
            </a:pPr>
            <a:r>
              <a:rPr lang="en-US" sz="1000" dirty="0">
                <a:solidFill>
                  <a:srgbClr val="FFFFFF"/>
                </a:solidFill>
                <a:latin typeface="Poppins" pitchFamily="34" charset="0"/>
                <a:ea typeface="Poppins" pitchFamily="34" charset="-122"/>
                <a:cs typeface="Poppins" pitchFamily="34" charset="-120"/>
              </a:rPr>
              <a:t>2.5 hours  |  120 lines  |  Everything counted</a:t>
            </a:r>
            <a:endParaRPr lang="en-US" sz="1000" dirty="0"/>
          </a:p>
        </p:txBody>
      </p:sp>
      <p:sp>
        <p:nvSpPr>
          <p:cNvPr id="9" name="Text 7"/>
          <p:cNvSpPr/>
          <p:nvPr/>
        </p:nvSpPr>
        <p:spPr>
          <a:xfrm>
            <a:off x="914400" y="1920240"/>
            <a:ext cx="731520" cy="274320"/>
          </a:xfrm>
          <a:prstGeom prst="rect">
            <a:avLst/>
          </a:prstGeom>
          <a:noFill/>
          <a:ln/>
        </p:spPr>
        <p:txBody>
          <a:bodyPr wrap="square" lIns="0" tIns="0" rIns="0" bIns="0" rtlCol="0" anchor="ctr"/>
          <a:lstStyle/>
          <a:p>
            <a:pPr marL="0" indent="0">
              <a:buNone/>
            </a:pPr>
            <a:r>
              <a:rPr lang="en-US" sz="1000" b="1" dirty="0">
                <a:solidFill>
                  <a:srgbClr val="D9373B"/>
                </a:solidFill>
                <a:latin typeface="Poppins" pitchFamily="34" charset="0"/>
                <a:ea typeface="Poppins" pitchFamily="34" charset="-122"/>
                <a:cs typeface="Poppins" pitchFamily="34" charset="-120"/>
              </a:rPr>
              <a:t>7:00am</a:t>
            </a:r>
            <a:endParaRPr lang="en-US" sz="1000" dirty="0"/>
          </a:p>
        </p:txBody>
      </p:sp>
      <p:sp>
        <p:nvSpPr>
          <p:cNvPr id="10" name="Text 8"/>
          <p:cNvSpPr/>
          <p:nvPr/>
        </p:nvSpPr>
        <p:spPr>
          <a:xfrm>
            <a:off x="1691640" y="1920240"/>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Operator opens full count sheet</a:t>
            </a:r>
            <a:endParaRPr lang="en-US" sz="1100" dirty="0"/>
          </a:p>
        </p:txBody>
      </p:sp>
      <p:sp>
        <p:nvSpPr>
          <p:cNvPr id="11" name="Text 9"/>
          <p:cNvSpPr/>
          <p:nvPr/>
        </p:nvSpPr>
        <p:spPr>
          <a:xfrm>
            <a:off x="1691640" y="2194560"/>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120 items across all categories. Same list as last week.</a:t>
            </a:r>
            <a:endParaRPr lang="en-US" sz="950" dirty="0"/>
          </a:p>
        </p:txBody>
      </p:sp>
      <p:sp>
        <p:nvSpPr>
          <p:cNvPr id="12" name="Text 10"/>
          <p:cNvSpPr/>
          <p:nvPr/>
        </p:nvSpPr>
        <p:spPr>
          <a:xfrm>
            <a:off x="914400" y="2724912"/>
            <a:ext cx="731520" cy="274320"/>
          </a:xfrm>
          <a:prstGeom prst="rect">
            <a:avLst/>
          </a:prstGeom>
          <a:noFill/>
          <a:ln/>
        </p:spPr>
        <p:txBody>
          <a:bodyPr wrap="square" lIns="0" tIns="0" rIns="0" bIns="0" rtlCol="0" anchor="ctr"/>
          <a:lstStyle/>
          <a:p>
            <a:pPr marL="0" indent="0">
              <a:buNone/>
            </a:pPr>
            <a:r>
              <a:rPr lang="en-US" sz="1000" b="1" dirty="0">
                <a:solidFill>
                  <a:srgbClr val="D9373B"/>
                </a:solidFill>
                <a:latin typeface="Poppins" pitchFamily="34" charset="0"/>
                <a:ea typeface="Poppins" pitchFamily="34" charset="-122"/>
                <a:cs typeface="Poppins" pitchFamily="34" charset="-120"/>
              </a:rPr>
              <a:t>7:15am</a:t>
            </a:r>
            <a:endParaRPr lang="en-US" sz="1000" dirty="0"/>
          </a:p>
        </p:txBody>
      </p:sp>
      <p:sp>
        <p:nvSpPr>
          <p:cNvPr id="13" name="Text 11"/>
          <p:cNvSpPr/>
          <p:nvPr/>
        </p:nvSpPr>
        <p:spPr>
          <a:xfrm>
            <a:off x="1691640" y="2724912"/>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Starts counting ambient shelves</a:t>
            </a:r>
            <a:endParaRPr lang="en-US" sz="1100" dirty="0"/>
          </a:p>
        </p:txBody>
      </p:sp>
      <p:sp>
        <p:nvSpPr>
          <p:cNvPr id="14" name="Text 12"/>
          <p:cNvSpPr/>
          <p:nvPr/>
        </p:nvSpPr>
        <p:spPr>
          <a:xfrm>
            <a:off x="1691640" y="2999232"/>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Baked beans, pasta, rice. None of these had variance last time. Or the time before that.</a:t>
            </a:r>
            <a:endParaRPr lang="en-US" sz="950" dirty="0"/>
          </a:p>
        </p:txBody>
      </p:sp>
      <p:sp>
        <p:nvSpPr>
          <p:cNvPr id="15" name="Text 13"/>
          <p:cNvSpPr/>
          <p:nvPr/>
        </p:nvSpPr>
        <p:spPr>
          <a:xfrm>
            <a:off x="914400" y="3529584"/>
            <a:ext cx="731520" cy="274320"/>
          </a:xfrm>
          <a:prstGeom prst="rect">
            <a:avLst/>
          </a:prstGeom>
          <a:noFill/>
          <a:ln/>
        </p:spPr>
        <p:txBody>
          <a:bodyPr wrap="square" lIns="0" tIns="0" rIns="0" bIns="0" rtlCol="0" anchor="ctr"/>
          <a:lstStyle/>
          <a:p>
            <a:pPr marL="0" indent="0">
              <a:buNone/>
            </a:pPr>
            <a:r>
              <a:rPr lang="en-US" sz="1000" b="1" dirty="0">
                <a:solidFill>
                  <a:srgbClr val="D9373B"/>
                </a:solidFill>
                <a:latin typeface="Poppins" pitchFamily="34" charset="0"/>
                <a:ea typeface="Poppins" pitchFamily="34" charset="-122"/>
                <a:cs typeface="Poppins" pitchFamily="34" charset="-120"/>
              </a:rPr>
              <a:t>8:30am</a:t>
            </a:r>
            <a:endParaRPr lang="en-US" sz="1000" dirty="0"/>
          </a:p>
        </p:txBody>
      </p:sp>
      <p:sp>
        <p:nvSpPr>
          <p:cNvPr id="16" name="Text 14"/>
          <p:cNvSpPr/>
          <p:nvPr/>
        </p:nvSpPr>
        <p:spPr>
          <a:xfrm>
            <a:off x="1691640" y="3529584"/>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Gets to chilled section</a:t>
            </a:r>
            <a:endParaRPr lang="en-US" sz="1100" dirty="0"/>
          </a:p>
        </p:txBody>
      </p:sp>
      <p:sp>
        <p:nvSpPr>
          <p:cNvPr id="17" name="Text 15"/>
          <p:cNvSpPr/>
          <p:nvPr/>
        </p:nvSpPr>
        <p:spPr>
          <a:xfrm>
            <a:off x="1691640" y="3803904"/>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Finally reaches the high-value proteins that actually had £200+ variance last cycle. Already fatigued.</a:t>
            </a:r>
            <a:endParaRPr lang="en-US" sz="950" dirty="0"/>
          </a:p>
        </p:txBody>
      </p:sp>
      <p:sp>
        <p:nvSpPr>
          <p:cNvPr id="18" name="Text 16"/>
          <p:cNvSpPr/>
          <p:nvPr/>
        </p:nvSpPr>
        <p:spPr>
          <a:xfrm>
            <a:off x="914400" y="4334256"/>
            <a:ext cx="731520" cy="274320"/>
          </a:xfrm>
          <a:prstGeom prst="rect">
            <a:avLst/>
          </a:prstGeom>
          <a:noFill/>
          <a:ln/>
        </p:spPr>
        <p:txBody>
          <a:bodyPr wrap="square" lIns="0" tIns="0" rIns="0" bIns="0" rtlCol="0" anchor="ctr"/>
          <a:lstStyle/>
          <a:p>
            <a:pPr marL="0" indent="0">
              <a:buNone/>
            </a:pPr>
            <a:r>
              <a:rPr lang="en-US" sz="1000" b="1" dirty="0">
                <a:solidFill>
                  <a:srgbClr val="D9373B"/>
                </a:solidFill>
                <a:latin typeface="Poppins" pitchFamily="34" charset="0"/>
                <a:ea typeface="Poppins" pitchFamily="34" charset="-122"/>
                <a:cs typeface="Poppins" pitchFamily="34" charset="-120"/>
              </a:rPr>
              <a:t>9:15am</a:t>
            </a:r>
            <a:endParaRPr lang="en-US" sz="1000" dirty="0"/>
          </a:p>
        </p:txBody>
      </p:sp>
      <p:sp>
        <p:nvSpPr>
          <p:cNvPr id="19" name="Text 17"/>
          <p:cNvSpPr/>
          <p:nvPr/>
        </p:nvSpPr>
        <p:spPr>
          <a:xfrm>
            <a:off x="1691640" y="4334256"/>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Finds a discrepancy</a:t>
            </a:r>
            <a:endParaRPr lang="en-US" sz="1100" dirty="0"/>
          </a:p>
        </p:txBody>
      </p:sp>
      <p:sp>
        <p:nvSpPr>
          <p:cNvPr id="20" name="Text 18"/>
          <p:cNvSpPr/>
          <p:nvPr/>
        </p:nvSpPr>
        <p:spPr>
          <a:xfrm>
            <a:off x="1691640" y="4608576"/>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12 units short on chicken breast. That shortage has been there for 3 days already. Availability was affected over the weekend.</a:t>
            </a:r>
            <a:endParaRPr lang="en-US" sz="950" dirty="0"/>
          </a:p>
        </p:txBody>
      </p:sp>
      <p:sp>
        <p:nvSpPr>
          <p:cNvPr id="21" name="Text 19"/>
          <p:cNvSpPr/>
          <p:nvPr/>
        </p:nvSpPr>
        <p:spPr>
          <a:xfrm>
            <a:off x="914400" y="5138928"/>
            <a:ext cx="731520" cy="274320"/>
          </a:xfrm>
          <a:prstGeom prst="rect">
            <a:avLst/>
          </a:prstGeom>
          <a:noFill/>
          <a:ln/>
        </p:spPr>
        <p:txBody>
          <a:bodyPr wrap="square" lIns="0" tIns="0" rIns="0" bIns="0" rtlCol="0" anchor="ctr"/>
          <a:lstStyle/>
          <a:p>
            <a:pPr marL="0" indent="0">
              <a:buNone/>
            </a:pPr>
            <a:r>
              <a:rPr lang="en-US" sz="1000" b="1" dirty="0">
                <a:solidFill>
                  <a:srgbClr val="D9373B"/>
                </a:solidFill>
                <a:latin typeface="Poppins" pitchFamily="34" charset="0"/>
                <a:ea typeface="Poppins" pitchFamily="34" charset="-122"/>
                <a:cs typeface="Poppins" pitchFamily="34" charset="-120"/>
              </a:rPr>
              <a:t>9:30am</a:t>
            </a:r>
            <a:endParaRPr lang="en-US" sz="1000" dirty="0"/>
          </a:p>
        </p:txBody>
      </p:sp>
      <p:sp>
        <p:nvSpPr>
          <p:cNvPr id="22" name="Text 20"/>
          <p:cNvSpPr/>
          <p:nvPr/>
        </p:nvSpPr>
        <p:spPr>
          <a:xfrm>
            <a:off x="1691640" y="5138928"/>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Finishes count</a:t>
            </a:r>
            <a:endParaRPr lang="en-US" sz="1100" dirty="0"/>
          </a:p>
        </p:txBody>
      </p:sp>
      <p:sp>
        <p:nvSpPr>
          <p:cNvPr id="23" name="Text 21"/>
          <p:cNvSpPr/>
          <p:nvPr/>
        </p:nvSpPr>
        <p:spPr>
          <a:xfrm>
            <a:off x="1691640" y="5413248"/>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2.5 hours. The variance existed on Monday. It was not found until Tuesday. 40% of the time was spent on items with no issues.</a:t>
            </a:r>
            <a:endParaRPr lang="en-US" sz="950" dirty="0"/>
          </a:p>
        </p:txBody>
      </p:sp>
      <p:sp>
        <p:nvSpPr>
          <p:cNvPr id="24" name="Shape 22"/>
          <p:cNvSpPr/>
          <p:nvPr/>
        </p:nvSpPr>
        <p:spPr>
          <a:xfrm>
            <a:off x="6217920" y="1280160"/>
            <a:ext cx="5303520" cy="484632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25" name="Shape 23"/>
          <p:cNvSpPr/>
          <p:nvPr/>
        </p:nvSpPr>
        <p:spPr>
          <a:xfrm>
            <a:off x="6217920" y="1280160"/>
            <a:ext cx="5303520" cy="457200"/>
          </a:xfrm>
          <a:prstGeom prst="rect">
            <a:avLst/>
          </a:prstGeom>
          <a:solidFill>
            <a:srgbClr val="00B69F"/>
          </a:solidFill>
          <a:ln/>
        </p:spPr>
        <p:txBody>
          <a:bodyPr/>
          <a:lstStyle/>
          <a:p>
            <a:endParaRPr lang="en-GB"/>
          </a:p>
        </p:txBody>
      </p:sp>
      <p:sp>
        <p:nvSpPr>
          <p:cNvPr id="26" name="Text 24"/>
          <p:cNvSpPr/>
          <p:nvPr/>
        </p:nvSpPr>
        <p:spPr>
          <a:xfrm>
            <a:off x="6400800" y="1298448"/>
            <a:ext cx="2926080" cy="411480"/>
          </a:xfrm>
          <a:prstGeom prst="rect">
            <a:avLst/>
          </a:prstGeom>
          <a:noFill/>
          <a:ln/>
        </p:spPr>
        <p:txBody>
          <a:bodyPr wrap="square" lIns="0" tIns="0" rIns="0" bIns="0" rtlCol="0" anchor="ctr"/>
          <a:lstStyle/>
          <a:p>
            <a:pPr marL="0" indent="0">
              <a:buNone/>
            </a:pPr>
            <a:r>
              <a:rPr lang="en-US" sz="1800" b="1" dirty="0">
                <a:solidFill>
                  <a:srgbClr val="002747"/>
                </a:solidFill>
                <a:latin typeface="Poppins" pitchFamily="34" charset="0"/>
                <a:ea typeface="Poppins" pitchFamily="34" charset="-122"/>
                <a:cs typeface="Poppins" pitchFamily="34" charset="-120"/>
              </a:rPr>
              <a:t>With Predictive Inventory</a:t>
            </a:r>
            <a:endParaRPr lang="en-US" sz="1800" dirty="0"/>
          </a:p>
        </p:txBody>
      </p:sp>
      <p:sp>
        <p:nvSpPr>
          <p:cNvPr id="27" name="Text 25"/>
          <p:cNvSpPr/>
          <p:nvPr/>
        </p:nvSpPr>
        <p:spPr>
          <a:xfrm>
            <a:off x="9326880" y="1316736"/>
            <a:ext cx="2011680" cy="384048"/>
          </a:xfrm>
          <a:prstGeom prst="rect">
            <a:avLst/>
          </a:prstGeom>
          <a:noFill/>
          <a:ln/>
        </p:spPr>
        <p:txBody>
          <a:bodyPr wrap="square" lIns="0" tIns="0" rIns="0" bIns="0" rtlCol="0" anchor="ctr"/>
          <a:lstStyle/>
          <a:p>
            <a:pPr marL="0" indent="0">
              <a:buNone/>
            </a:pPr>
            <a:r>
              <a:rPr lang="en-US" sz="1000" dirty="0">
                <a:solidFill>
                  <a:srgbClr val="002747"/>
                </a:solidFill>
                <a:latin typeface="Poppins" pitchFamily="34" charset="0"/>
                <a:ea typeface="Poppins" pitchFamily="34" charset="-122"/>
                <a:cs typeface="Poppins" pitchFamily="34" charset="-120"/>
              </a:rPr>
              <a:t>45 mins  |  35 lines  |  Only what matters</a:t>
            </a:r>
            <a:endParaRPr lang="en-US" sz="1000" dirty="0"/>
          </a:p>
        </p:txBody>
      </p:sp>
      <p:sp>
        <p:nvSpPr>
          <p:cNvPr id="28" name="Text 26"/>
          <p:cNvSpPr/>
          <p:nvPr/>
        </p:nvSpPr>
        <p:spPr>
          <a:xfrm>
            <a:off x="6400800" y="1920240"/>
            <a:ext cx="731520" cy="274320"/>
          </a:xfrm>
          <a:prstGeom prst="rect">
            <a:avLst/>
          </a:prstGeom>
          <a:noFill/>
          <a:ln/>
        </p:spPr>
        <p:txBody>
          <a:bodyPr wrap="square" lIns="0" tIns="0" rIns="0" bIns="0" rtlCol="0" anchor="ctr"/>
          <a:lstStyle/>
          <a:p>
            <a:pPr marL="0" indent="0">
              <a:buNone/>
            </a:pPr>
            <a:r>
              <a:rPr lang="en-US" sz="1000" b="1" dirty="0">
                <a:solidFill>
                  <a:srgbClr val="00B69F"/>
                </a:solidFill>
                <a:latin typeface="Poppins" pitchFamily="34" charset="0"/>
                <a:ea typeface="Poppins" pitchFamily="34" charset="-122"/>
                <a:cs typeface="Poppins" pitchFamily="34" charset="-120"/>
              </a:rPr>
              <a:t>7:00am</a:t>
            </a:r>
            <a:endParaRPr lang="en-US" sz="1000" dirty="0"/>
          </a:p>
        </p:txBody>
      </p:sp>
      <p:sp>
        <p:nvSpPr>
          <p:cNvPr id="29" name="Text 27"/>
          <p:cNvSpPr/>
          <p:nvPr/>
        </p:nvSpPr>
        <p:spPr>
          <a:xfrm>
            <a:off x="7178040" y="1920240"/>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Operator opens targeted check list</a:t>
            </a:r>
            <a:endParaRPr lang="en-US" sz="1100" dirty="0"/>
          </a:p>
        </p:txBody>
      </p:sp>
      <p:sp>
        <p:nvSpPr>
          <p:cNvPr id="30" name="Text 28"/>
          <p:cNvSpPr/>
          <p:nvPr/>
        </p:nvSpPr>
        <p:spPr>
          <a:xfrm>
            <a:off x="7178040" y="2194560"/>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35 items. AI flagged these overnight based on risk, value, sales velocity, and days since last count.</a:t>
            </a:r>
            <a:endParaRPr lang="en-US" sz="950" dirty="0"/>
          </a:p>
        </p:txBody>
      </p:sp>
      <p:sp>
        <p:nvSpPr>
          <p:cNvPr id="31" name="Text 29"/>
          <p:cNvSpPr/>
          <p:nvPr/>
        </p:nvSpPr>
        <p:spPr>
          <a:xfrm>
            <a:off x="6400800" y="2724912"/>
            <a:ext cx="731520" cy="274320"/>
          </a:xfrm>
          <a:prstGeom prst="rect">
            <a:avLst/>
          </a:prstGeom>
          <a:noFill/>
          <a:ln/>
        </p:spPr>
        <p:txBody>
          <a:bodyPr wrap="square" lIns="0" tIns="0" rIns="0" bIns="0" rtlCol="0" anchor="ctr"/>
          <a:lstStyle/>
          <a:p>
            <a:pPr marL="0" indent="0">
              <a:buNone/>
            </a:pPr>
            <a:r>
              <a:rPr lang="en-US" sz="1000" b="1" dirty="0">
                <a:solidFill>
                  <a:srgbClr val="00B69F"/>
                </a:solidFill>
                <a:latin typeface="Poppins" pitchFamily="34" charset="0"/>
                <a:ea typeface="Poppins" pitchFamily="34" charset="-122"/>
                <a:cs typeface="Poppins" pitchFamily="34" charset="-120"/>
              </a:rPr>
              <a:t>7:05am</a:t>
            </a:r>
            <a:endParaRPr lang="en-US" sz="1000" dirty="0"/>
          </a:p>
        </p:txBody>
      </p:sp>
      <p:sp>
        <p:nvSpPr>
          <p:cNvPr id="32" name="Text 30"/>
          <p:cNvSpPr/>
          <p:nvPr/>
        </p:nvSpPr>
        <p:spPr>
          <a:xfrm>
            <a:off x="7178040" y="2724912"/>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Starts with chilled proteins</a:t>
            </a:r>
            <a:endParaRPr lang="en-US" sz="1100" dirty="0"/>
          </a:p>
        </p:txBody>
      </p:sp>
      <p:sp>
        <p:nvSpPr>
          <p:cNvPr id="33" name="Text 31"/>
          <p:cNvSpPr/>
          <p:nvPr/>
        </p:nvSpPr>
        <p:spPr>
          <a:xfrm>
            <a:off x="7178040" y="2999232"/>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Chicken breast is item #1. Flagged: High risk, £4.80/unit, last counted 4 days ago, 12% variance predicted. Operator sees exactly why.</a:t>
            </a:r>
            <a:endParaRPr lang="en-US" sz="950" dirty="0"/>
          </a:p>
        </p:txBody>
      </p:sp>
      <p:sp>
        <p:nvSpPr>
          <p:cNvPr id="34" name="Text 32"/>
          <p:cNvSpPr/>
          <p:nvPr/>
        </p:nvSpPr>
        <p:spPr>
          <a:xfrm>
            <a:off x="6400800" y="3529584"/>
            <a:ext cx="731520" cy="274320"/>
          </a:xfrm>
          <a:prstGeom prst="rect">
            <a:avLst/>
          </a:prstGeom>
          <a:noFill/>
          <a:ln/>
        </p:spPr>
        <p:txBody>
          <a:bodyPr wrap="square" lIns="0" tIns="0" rIns="0" bIns="0" rtlCol="0" anchor="ctr"/>
          <a:lstStyle/>
          <a:p>
            <a:pPr marL="0" indent="0">
              <a:buNone/>
            </a:pPr>
            <a:r>
              <a:rPr lang="en-US" sz="1000" b="1" dirty="0">
                <a:solidFill>
                  <a:srgbClr val="00B69F"/>
                </a:solidFill>
                <a:latin typeface="Poppins" pitchFamily="34" charset="0"/>
                <a:ea typeface="Poppins" pitchFamily="34" charset="-122"/>
                <a:cs typeface="Poppins" pitchFamily="34" charset="-120"/>
              </a:rPr>
              <a:t>7:20am</a:t>
            </a:r>
            <a:endParaRPr lang="en-US" sz="1000" dirty="0"/>
          </a:p>
        </p:txBody>
      </p:sp>
      <p:sp>
        <p:nvSpPr>
          <p:cNvPr id="35" name="Text 33"/>
          <p:cNvSpPr/>
          <p:nvPr/>
        </p:nvSpPr>
        <p:spPr>
          <a:xfrm>
            <a:off x="7178040" y="3529584"/>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Finds the shortage immediately</a:t>
            </a:r>
            <a:endParaRPr lang="en-US" sz="1100" dirty="0"/>
          </a:p>
        </p:txBody>
      </p:sp>
      <p:sp>
        <p:nvSpPr>
          <p:cNvPr id="36" name="Text 34"/>
          <p:cNvSpPr/>
          <p:nvPr/>
        </p:nvSpPr>
        <p:spPr>
          <a:xfrm>
            <a:off x="7178040" y="3803904"/>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12 units short. Variance caught on day 1 instead of day 3. Stock position corrected. Orders adjusted today.</a:t>
            </a:r>
            <a:endParaRPr lang="en-US" sz="950" dirty="0"/>
          </a:p>
        </p:txBody>
      </p:sp>
      <p:sp>
        <p:nvSpPr>
          <p:cNvPr id="37" name="Text 35"/>
          <p:cNvSpPr/>
          <p:nvPr/>
        </p:nvSpPr>
        <p:spPr>
          <a:xfrm>
            <a:off x="6400800" y="4334256"/>
            <a:ext cx="731520" cy="274320"/>
          </a:xfrm>
          <a:prstGeom prst="rect">
            <a:avLst/>
          </a:prstGeom>
          <a:noFill/>
          <a:ln/>
        </p:spPr>
        <p:txBody>
          <a:bodyPr wrap="square" lIns="0" tIns="0" rIns="0" bIns="0" rtlCol="0" anchor="ctr"/>
          <a:lstStyle/>
          <a:p>
            <a:pPr marL="0" indent="0">
              <a:buNone/>
            </a:pPr>
            <a:r>
              <a:rPr lang="en-US" sz="1000" b="1" dirty="0">
                <a:solidFill>
                  <a:srgbClr val="00B69F"/>
                </a:solidFill>
                <a:latin typeface="Poppins" pitchFamily="34" charset="0"/>
                <a:ea typeface="Poppins" pitchFamily="34" charset="-122"/>
                <a:cs typeface="Poppins" pitchFamily="34" charset="-120"/>
              </a:rPr>
              <a:t>7:35am</a:t>
            </a:r>
            <a:endParaRPr lang="en-US" sz="1000" dirty="0"/>
          </a:p>
        </p:txBody>
      </p:sp>
      <p:sp>
        <p:nvSpPr>
          <p:cNvPr id="38" name="Text 36"/>
          <p:cNvSpPr/>
          <p:nvPr/>
        </p:nvSpPr>
        <p:spPr>
          <a:xfrm>
            <a:off x="7178040" y="4334256"/>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Counts remaining priority items</a:t>
            </a:r>
            <a:endParaRPr lang="en-US" sz="1100" dirty="0"/>
          </a:p>
        </p:txBody>
      </p:sp>
      <p:sp>
        <p:nvSpPr>
          <p:cNvPr id="39" name="Text 37"/>
          <p:cNvSpPr/>
          <p:nvPr/>
        </p:nvSpPr>
        <p:spPr>
          <a:xfrm>
            <a:off x="7178040" y="4608576"/>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High-value dairy, promotional bakery items. Each shows its reason. Low-risk ambient lines are not on the list.</a:t>
            </a:r>
            <a:endParaRPr lang="en-US" sz="950" dirty="0"/>
          </a:p>
        </p:txBody>
      </p:sp>
      <p:sp>
        <p:nvSpPr>
          <p:cNvPr id="40" name="Text 38"/>
          <p:cNvSpPr/>
          <p:nvPr/>
        </p:nvSpPr>
        <p:spPr>
          <a:xfrm>
            <a:off x="6400800" y="5138928"/>
            <a:ext cx="731520" cy="274320"/>
          </a:xfrm>
          <a:prstGeom prst="rect">
            <a:avLst/>
          </a:prstGeom>
          <a:noFill/>
          <a:ln/>
        </p:spPr>
        <p:txBody>
          <a:bodyPr wrap="square" lIns="0" tIns="0" rIns="0" bIns="0" rtlCol="0" anchor="ctr"/>
          <a:lstStyle/>
          <a:p>
            <a:pPr marL="0" indent="0">
              <a:buNone/>
            </a:pPr>
            <a:r>
              <a:rPr lang="en-US" sz="1000" b="1" dirty="0">
                <a:solidFill>
                  <a:srgbClr val="00B69F"/>
                </a:solidFill>
                <a:latin typeface="Poppins" pitchFamily="34" charset="0"/>
                <a:ea typeface="Poppins" pitchFamily="34" charset="-122"/>
                <a:cs typeface="Poppins" pitchFamily="34" charset="-120"/>
              </a:rPr>
              <a:t>7:45am</a:t>
            </a:r>
            <a:endParaRPr lang="en-US" sz="1000" dirty="0"/>
          </a:p>
        </p:txBody>
      </p:sp>
      <p:sp>
        <p:nvSpPr>
          <p:cNvPr id="41" name="Text 39"/>
          <p:cNvSpPr/>
          <p:nvPr/>
        </p:nvSpPr>
        <p:spPr>
          <a:xfrm>
            <a:off x="7178040" y="5138928"/>
            <a:ext cx="41148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Done</a:t>
            </a:r>
            <a:endParaRPr lang="en-US" sz="1100" dirty="0"/>
          </a:p>
        </p:txBody>
      </p:sp>
      <p:sp>
        <p:nvSpPr>
          <p:cNvPr id="42" name="Text 40"/>
          <p:cNvSpPr/>
          <p:nvPr/>
        </p:nvSpPr>
        <p:spPr>
          <a:xfrm>
            <a:off x="7178040" y="5413248"/>
            <a:ext cx="4114800" cy="365760"/>
          </a:xfrm>
          <a:prstGeom prst="rect">
            <a:avLst/>
          </a:prstGeom>
          <a:noFill/>
          <a:ln/>
        </p:spPr>
        <p:txBody>
          <a:bodyPr wrap="square" lIns="0" tIns="0" rIns="0" bIns="0" rtlCol="0" anchor="ctr"/>
          <a:lstStyle/>
          <a:p>
            <a:pPr marL="0" indent="0">
              <a:buNone/>
            </a:pPr>
            <a:r>
              <a:rPr lang="en-US" sz="950" dirty="0">
                <a:solidFill>
                  <a:srgbClr val="6B7280"/>
                </a:solidFill>
                <a:latin typeface="Poppins" pitchFamily="34" charset="0"/>
                <a:ea typeface="Poppins" pitchFamily="34" charset="-122"/>
                <a:cs typeface="Poppins" pitchFamily="34" charset="-120"/>
              </a:rPr>
              <a:t>45 minutes. Variance found and corrected. Financial exposure visible in Fourth iQ. The model learns for next cycle.</a:t>
            </a:r>
            <a:endParaRPr lang="en-US" sz="950" dirty="0"/>
          </a:p>
        </p:txBody>
      </p:sp>
      <p:sp>
        <p:nvSpPr>
          <p:cNvPr id="43" name="Shape 41"/>
          <p:cNvSpPr/>
          <p:nvPr/>
        </p:nvSpPr>
        <p:spPr>
          <a:xfrm>
            <a:off x="5943600" y="1280160"/>
            <a:ext cx="36576" cy="4846320"/>
          </a:xfrm>
          <a:prstGeom prst="rect">
            <a:avLst/>
          </a:prstGeom>
          <a:solidFill>
            <a:srgbClr val="CFD1D1"/>
          </a:solidFill>
          <a:ln/>
        </p:spPr>
        <p:txBody>
          <a:bodyPr/>
          <a:lstStyle/>
          <a:p>
            <a:endParaRPr lang="en-GB"/>
          </a:p>
        </p:txBody>
      </p:sp>
      <p:pic>
        <p:nvPicPr>
          <p:cNvPr id="44" name="Image 0" descr="preencoded.png"/>
          <p:cNvPicPr>
            <a:picLocks noChangeAspect="1"/>
          </p:cNvPicPr>
          <p:nvPr/>
        </p:nvPicPr>
        <p:blipFill>
          <a:blip r:embed="rId3"/>
          <a:stretch>
            <a:fillRect/>
          </a:stretch>
        </p:blipFill>
        <p:spPr>
          <a:xfrm>
            <a:off x="5715000" y="3474720"/>
            <a:ext cx="45720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274320"/>
            <a:ext cx="10058400" cy="54864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The Operational Workflow</a:t>
            </a:r>
            <a:endParaRPr lang="en-US" sz="2800" dirty="0"/>
          </a:p>
        </p:txBody>
      </p:sp>
      <p:sp>
        <p:nvSpPr>
          <p:cNvPr id="4" name="Text 2"/>
          <p:cNvSpPr/>
          <p:nvPr/>
        </p:nvSpPr>
        <p:spPr>
          <a:xfrm>
            <a:off x="731520" y="822960"/>
            <a:ext cx="9144000" cy="320040"/>
          </a:xfrm>
          <a:prstGeom prst="rect">
            <a:avLst/>
          </a:prstGeom>
          <a:noFill/>
          <a:ln/>
        </p:spPr>
        <p:txBody>
          <a:bodyPr wrap="square" lIns="0" tIns="0" rIns="0" bIns="0" rtlCol="0" anchor="ctr"/>
          <a:lstStyle/>
          <a:p>
            <a:pPr marL="0" indent="0">
              <a:buNone/>
            </a:pPr>
            <a:r>
              <a:rPr lang="en-US" sz="1300" dirty="0">
                <a:solidFill>
                  <a:srgbClr val="0C4A7D"/>
                </a:solidFill>
                <a:latin typeface="Poppins" pitchFamily="34" charset="0"/>
                <a:ea typeface="Poppins" pitchFamily="34" charset="-122"/>
                <a:cs typeface="Poppins" pitchFamily="34" charset="-120"/>
              </a:rPr>
              <a:t>How a counting cycle runs from start to finish with Predictive Inventory.</a:t>
            </a:r>
            <a:endParaRPr lang="en-US" sz="1300" dirty="0"/>
          </a:p>
        </p:txBody>
      </p:sp>
      <p:sp>
        <p:nvSpPr>
          <p:cNvPr id="5" name="Shape 3"/>
          <p:cNvSpPr/>
          <p:nvPr/>
        </p:nvSpPr>
        <p:spPr>
          <a:xfrm>
            <a:off x="548640" y="1371600"/>
            <a:ext cx="2103120" cy="292608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548640" y="1371600"/>
            <a:ext cx="2103120" cy="45720"/>
          </a:xfrm>
          <a:prstGeom prst="rect">
            <a:avLst/>
          </a:prstGeom>
          <a:solidFill>
            <a:srgbClr val="CFD1D1"/>
          </a:solidFill>
          <a:ln/>
        </p:spPr>
        <p:txBody>
          <a:bodyPr/>
          <a:lstStyle/>
          <a:p>
            <a:endParaRPr lang="en-GB"/>
          </a:p>
        </p:txBody>
      </p:sp>
      <p:sp>
        <p:nvSpPr>
          <p:cNvPr id="7" name="Shape 5"/>
          <p:cNvSpPr/>
          <p:nvPr/>
        </p:nvSpPr>
        <p:spPr>
          <a:xfrm>
            <a:off x="1280160" y="1600200"/>
            <a:ext cx="548640" cy="548640"/>
          </a:xfrm>
          <a:prstGeom prst="ellipse">
            <a:avLst/>
          </a:prstGeom>
          <a:solidFill>
            <a:srgbClr val="CFD1D1"/>
          </a:solidFill>
          <a:ln/>
        </p:spPr>
        <p:txBody>
          <a:bodyPr/>
          <a:lstStyle/>
          <a:p>
            <a:endParaRPr lang="en-GB"/>
          </a:p>
        </p:txBody>
      </p:sp>
      <p:sp>
        <p:nvSpPr>
          <p:cNvPr id="8" name="Text 6"/>
          <p:cNvSpPr/>
          <p:nvPr/>
        </p:nvSpPr>
        <p:spPr>
          <a:xfrm>
            <a:off x="1280160"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1</a:t>
            </a:r>
            <a:endParaRPr lang="en-US" sz="2000" dirty="0"/>
          </a:p>
        </p:txBody>
      </p:sp>
      <p:sp>
        <p:nvSpPr>
          <p:cNvPr id="9" name="Text 7"/>
          <p:cNvSpPr/>
          <p:nvPr/>
        </p:nvSpPr>
        <p:spPr>
          <a:xfrm>
            <a:off x="685800" y="2331720"/>
            <a:ext cx="1828800" cy="365760"/>
          </a:xfrm>
          <a:prstGeom prst="rect">
            <a:avLst/>
          </a:prstGeom>
          <a:noFill/>
          <a:ln/>
        </p:spPr>
        <p:txBody>
          <a:bodyPr wrap="square" lIns="0" tIns="0" rIns="0" bIns="0" rtlCol="0" anchor="ctr"/>
          <a:lstStyle/>
          <a:p>
            <a:pPr marL="0" indent="0" algn="ctr">
              <a:buNone/>
            </a:pPr>
            <a:r>
              <a:rPr lang="en-US" sz="1400" b="1" dirty="0">
                <a:solidFill>
                  <a:srgbClr val="002747"/>
                </a:solidFill>
                <a:latin typeface="Poppins" pitchFamily="34" charset="0"/>
                <a:ea typeface="Poppins" pitchFamily="34" charset="-122"/>
                <a:cs typeface="Poppins" pitchFamily="34" charset="-120"/>
              </a:rPr>
              <a:t>Data In</a:t>
            </a:r>
            <a:endParaRPr lang="en-US" sz="1400" dirty="0"/>
          </a:p>
        </p:txBody>
      </p:sp>
      <p:sp>
        <p:nvSpPr>
          <p:cNvPr id="10" name="Text 8"/>
          <p:cNvSpPr/>
          <p:nvPr/>
        </p:nvSpPr>
        <p:spPr>
          <a:xfrm>
            <a:off x="685800" y="2788920"/>
            <a:ext cx="1828800" cy="1280160"/>
          </a:xfrm>
          <a:prstGeom prst="rect">
            <a:avLst/>
          </a:prstGeom>
          <a:noFill/>
          <a:ln/>
        </p:spPr>
        <p:txBody>
          <a:bodyPr wrap="square" lIns="0" tIns="0" rIns="0" bIns="0" rtlCol="0" anchor="ctr"/>
          <a:lstStyle/>
          <a:p>
            <a:pPr marL="0" indent="0" algn="ctr">
              <a:buNone/>
            </a:pPr>
            <a:r>
              <a:rPr lang="en-US" sz="1050" dirty="0">
                <a:solidFill>
                  <a:srgbClr val="4B5563"/>
                </a:solidFill>
                <a:latin typeface="Poppins" pitchFamily="34" charset="0"/>
                <a:ea typeface="Poppins" pitchFamily="34" charset="-122"/>
                <a:cs typeface="Poppins" pitchFamily="34" charset="-120"/>
              </a:rPr>
              <a:t>Sales, stock, deliveries, waste, and count history feed continuously into the AI model.</a:t>
            </a:r>
            <a:endParaRPr lang="en-US" sz="1050" dirty="0"/>
          </a:p>
        </p:txBody>
      </p:sp>
      <p:sp>
        <p:nvSpPr>
          <p:cNvPr id="11" name="Shape 9"/>
          <p:cNvSpPr/>
          <p:nvPr/>
        </p:nvSpPr>
        <p:spPr>
          <a:xfrm>
            <a:off x="2651760" y="2697480"/>
            <a:ext cx="201168" cy="27432"/>
          </a:xfrm>
          <a:prstGeom prst="rect">
            <a:avLst/>
          </a:prstGeom>
          <a:solidFill>
            <a:srgbClr val="00B69F"/>
          </a:solidFill>
          <a:ln/>
        </p:spPr>
        <p:txBody>
          <a:bodyPr/>
          <a:lstStyle/>
          <a:p>
            <a:endParaRPr lang="en-GB"/>
          </a:p>
        </p:txBody>
      </p:sp>
      <p:sp>
        <p:nvSpPr>
          <p:cNvPr id="12" name="Shape 10"/>
          <p:cNvSpPr/>
          <p:nvPr/>
        </p:nvSpPr>
        <p:spPr>
          <a:xfrm>
            <a:off x="2852928" y="1371600"/>
            <a:ext cx="2103120" cy="292608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13" name="Shape 11"/>
          <p:cNvSpPr/>
          <p:nvPr/>
        </p:nvSpPr>
        <p:spPr>
          <a:xfrm>
            <a:off x="2852928" y="1371600"/>
            <a:ext cx="2103120" cy="45720"/>
          </a:xfrm>
          <a:prstGeom prst="rect">
            <a:avLst/>
          </a:prstGeom>
          <a:solidFill>
            <a:srgbClr val="6FB4E3"/>
          </a:solidFill>
          <a:ln/>
        </p:spPr>
        <p:txBody>
          <a:bodyPr/>
          <a:lstStyle/>
          <a:p>
            <a:endParaRPr lang="en-GB"/>
          </a:p>
        </p:txBody>
      </p:sp>
      <p:sp>
        <p:nvSpPr>
          <p:cNvPr id="14" name="Shape 12"/>
          <p:cNvSpPr/>
          <p:nvPr/>
        </p:nvSpPr>
        <p:spPr>
          <a:xfrm>
            <a:off x="3584448" y="1600200"/>
            <a:ext cx="548640" cy="548640"/>
          </a:xfrm>
          <a:prstGeom prst="ellipse">
            <a:avLst/>
          </a:prstGeom>
          <a:solidFill>
            <a:srgbClr val="6FB4E3"/>
          </a:solidFill>
          <a:ln/>
        </p:spPr>
        <p:txBody>
          <a:bodyPr/>
          <a:lstStyle/>
          <a:p>
            <a:endParaRPr lang="en-GB"/>
          </a:p>
        </p:txBody>
      </p:sp>
      <p:sp>
        <p:nvSpPr>
          <p:cNvPr id="15" name="Text 13"/>
          <p:cNvSpPr/>
          <p:nvPr/>
        </p:nvSpPr>
        <p:spPr>
          <a:xfrm>
            <a:off x="3584448"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2</a:t>
            </a:r>
            <a:endParaRPr lang="en-US" sz="2000" dirty="0"/>
          </a:p>
        </p:txBody>
      </p:sp>
      <p:sp>
        <p:nvSpPr>
          <p:cNvPr id="16" name="Text 14"/>
          <p:cNvSpPr/>
          <p:nvPr/>
        </p:nvSpPr>
        <p:spPr>
          <a:xfrm>
            <a:off x="2990088" y="2331720"/>
            <a:ext cx="1828800" cy="365760"/>
          </a:xfrm>
          <a:prstGeom prst="rect">
            <a:avLst/>
          </a:prstGeom>
          <a:noFill/>
          <a:ln/>
        </p:spPr>
        <p:txBody>
          <a:bodyPr wrap="square" lIns="0" tIns="0" rIns="0" bIns="0" rtlCol="0" anchor="ctr"/>
          <a:lstStyle/>
          <a:p>
            <a:pPr marL="0" indent="0" algn="ctr">
              <a:buNone/>
            </a:pPr>
            <a:r>
              <a:rPr lang="en-US" sz="1400" b="1" dirty="0">
                <a:solidFill>
                  <a:srgbClr val="002747"/>
                </a:solidFill>
                <a:latin typeface="Poppins" pitchFamily="34" charset="0"/>
                <a:ea typeface="Poppins" pitchFamily="34" charset="-122"/>
                <a:cs typeface="Poppins" pitchFamily="34" charset="-120"/>
              </a:rPr>
              <a:t>AI Analyses</a:t>
            </a:r>
            <a:endParaRPr lang="en-US" sz="1400" dirty="0"/>
          </a:p>
        </p:txBody>
      </p:sp>
      <p:sp>
        <p:nvSpPr>
          <p:cNvPr id="17" name="Text 15"/>
          <p:cNvSpPr/>
          <p:nvPr/>
        </p:nvSpPr>
        <p:spPr>
          <a:xfrm>
            <a:off x="2990088" y="2788920"/>
            <a:ext cx="1828800" cy="1280160"/>
          </a:xfrm>
          <a:prstGeom prst="rect">
            <a:avLst/>
          </a:prstGeom>
          <a:noFill/>
          <a:ln/>
        </p:spPr>
        <p:txBody>
          <a:bodyPr wrap="square" lIns="0" tIns="0" rIns="0" bIns="0" rtlCol="0" anchor="ctr"/>
          <a:lstStyle/>
          <a:p>
            <a:pPr marL="0" indent="0" algn="ctr">
              <a:buNone/>
            </a:pPr>
            <a:r>
              <a:rPr lang="en-US" sz="1050" dirty="0">
                <a:solidFill>
                  <a:srgbClr val="4B5563"/>
                </a:solidFill>
                <a:latin typeface="Poppins" pitchFamily="34" charset="0"/>
                <a:ea typeface="Poppins" pitchFamily="34" charset="-122"/>
                <a:cs typeface="Poppins" pitchFamily="34" charset="-120"/>
              </a:rPr>
              <a:t>The model scores every item by risk, value, rate of sale, count freshness, and variance history.</a:t>
            </a:r>
            <a:endParaRPr lang="en-US" sz="1050" dirty="0"/>
          </a:p>
        </p:txBody>
      </p:sp>
      <p:sp>
        <p:nvSpPr>
          <p:cNvPr id="18" name="Shape 16"/>
          <p:cNvSpPr/>
          <p:nvPr/>
        </p:nvSpPr>
        <p:spPr>
          <a:xfrm>
            <a:off x="4956048" y="2697480"/>
            <a:ext cx="201168" cy="27432"/>
          </a:xfrm>
          <a:prstGeom prst="rect">
            <a:avLst/>
          </a:prstGeom>
          <a:solidFill>
            <a:srgbClr val="00B69F"/>
          </a:solidFill>
          <a:ln/>
        </p:spPr>
        <p:txBody>
          <a:bodyPr/>
          <a:lstStyle/>
          <a:p>
            <a:endParaRPr lang="en-GB"/>
          </a:p>
        </p:txBody>
      </p:sp>
      <p:sp>
        <p:nvSpPr>
          <p:cNvPr id="19" name="Shape 17"/>
          <p:cNvSpPr/>
          <p:nvPr/>
        </p:nvSpPr>
        <p:spPr>
          <a:xfrm>
            <a:off x="5157216" y="1371600"/>
            <a:ext cx="2103120" cy="292608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20" name="Shape 18"/>
          <p:cNvSpPr/>
          <p:nvPr/>
        </p:nvSpPr>
        <p:spPr>
          <a:xfrm>
            <a:off x="5157216" y="1371600"/>
            <a:ext cx="2103120" cy="45720"/>
          </a:xfrm>
          <a:prstGeom prst="rect">
            <a:avLst/>
          </a:prstGeom>
          <a:solidFill>
            <a:srgbClr val="00B69F"/>
          </a:solidFill>
          <a:ln/>
        </p:spPr>
        <p:txBody>
          <a:bodyPr/>
          <a:lstStyle/>
          <a:p>
            <a:endParaRPr lang="en-GB"/>
          </a:p>
        </p:txBody>
      </p:sp>
      <p:sp>
        <p:nvSpPr>
          <p:cNvPr id="21" name="Shape 19"/>
          <p:cNvSpPr/>
          <p:nvPr/>
        </p:nvSpPr>
        <p:spPr>
          <a:xfrm>
            <a:off x="5888736" y="1600200"/>
            <a:ext cx="548640" cy="548640"/>
          </a:xfrm>
          <a:prstGeom prst="ellipse">
            <a:avLst/>
          </a:prstGeom>
          <a:solidFill>
            <a:srgbClr val="00B69F"/>
          </a:solidFill>
          <a:ln/>
        </p:spPr>
        <p:txBody>
          <a:bodyPr/>
          <a:lstStyle/>
          <a:p>
            <a:endParaRPr lang="en-GB"/>
          </a:p>
        </p:txBody>
      </p:sp>
      <p:sp>
        <p:nvSpPr>
          <p:cNvPr id="22" name="Text 20"/>
          <p:cNvSpPr/>
          <p:nvPr/>
        </p:nvSpPr>
        <p:spPr>
          <a:xfrm>
            <a:off x="5888736"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3</a:t>
            </a:r>
            <a:endParaRPr lang="en-US" sz="2000" dirty="0"/>
          </a:p>
        </p:txBody>
      </p:sp>
      <p:sp>
        <p:nvSpPr>
          <p:cNvPr id="23" name="Text 21"/>
          <p:cNvSpPr/>
          <p:nvPr/>
        </p:nvSpPr>
        <p:spPr>
          <a:xfrm>
            <a:off x="5294376" y="2331720"/>
            <a:ext cx="1828800" cy="365760"/>
          </a:xfrm>
          <a:prstGeom prst="rect">
            <a:avLst/>
          </a:prstGeom>
          <a:noFill/>
          <a:ln/>
        </p:spPr>
        <p:txBody>
          <a:bodyPr wrap="square" lIns="0" tIns="0" rIns="0" bIns="0" rtlCol="0" anchor="ctr"/>
          <a:lstStyle/>
          <a:p>
            <a:pPr marL="0" indent="0" algn="ctr">
              <a:buNone/>
            </a:pPr>
            <a:r>
              <a:rPr lang="en-US" sz="1400" b="1" dirty="0">
                <a:solidFill>
                  <a:srgbClr val="002747"/>
                </a:solidFill>
                <a:latin typeface="Poppins" pitchFamily="34" charset="0"/>
                <a:ea typeface="Poppins" pitchFamily="34" charset="-122"/>
                <a:cs typeface="Poppins" pitchFamily="34" charset="-120"/>
              </a:rPr>
              <a:t>Checks Pushed</a:t>
            </a:r>
            <a:endParaRPr lang="en-US" sz="1400" dirty="0"/>
          </a:p>
        </p:txBody>
      </p:sp>
      <p:sp>
        <p:nvSpPr>
          <p:cNvPr id="24" name="Text 22"/>
          <p:cNvSpPr/>
          <p:nvPr/>
        </p:nvSpPr>
        <p:spPr>
          <a:xfrm>
            <a:off x="5294376" y="2788920"/>
            <a:ext cx="1828800" cy="1280160"/>
          </a:xfrm>
          <a:prstGeom prst="rect">
            <a:avLst/>
          </a:prstGeom>
          <a:noFill/>
          <a:ln/>
        </p:spPr>
        <p:txBody>
          <a:bodyPr wrap="square" lIns="0" tIns="0" rIns="0" bIns="0" rtlCol="0" anchor="ctr"/>
          <a:lstStyle/>
          <a:p>
            <a:pPr marL="0" indent="0" algn="ctr">
              <a:buNone/>
            </a:pPr>
            <a:r>
              <a:rPr lang="en-US" sz="1050" dirty="0">
                <a:solidFill>
                  <a:srgbClr val="4B5563"/>
                </a:solidFill>
                <a:latin typeface="Poppins" pitchFamily="34" charset="0"/>
                <a:ea typeface="Poppins" pitchFamily="34" charset="-122"/>
                <a:cs typeface="Poppins" pitchFamily="34" charset="-120"/>
              </a:rPr>
              <a:t>Prioritised line checks are sent to operators in the Counting App, with reasons for each.</a:t>
            </a:r>
            <a:endParaRPr lang="en-US" sz="1050" dirty="0"/>
          </a:p>
        </p:txBody>
      </p:sp>
      <p:sp>
        <p:nvSpPr>
          <p:cNvPr id="25" name="Shape 23"/>
          <p:cNvSpPr/>
          <p:nvPr/>
        </p:nvSpPr>
        <p:spPr>
          <a:xfrm>
            <a:off x="7260336" y="2697480"/>
            <a:ext cx="201168" cy="27432"/>
          </a:xfrm>
          <a:prstGeom prst="rect">
            <a:avLst/>
          </a:prstGeom>
          <a:solidFill>
            <a:srgbClr val="00B69F"/>
          </a:solidFill>
          <a:ln/>
        </p:spPr>
        <p:txBody>
          <a:bodyPr/>
          <a:lstStyle/>
          <a:p>
            <a:endParaRPr lang="en-GB"/>
          </a:p>
        </p:txBody>
      </p:sp>
      <p:sp>
        <p:nvSpPr>
          <p:cNvPr id="26" name="Shape 24"/>
          <p:cNvSpPr/>
          <p:nvPr/>
        </p:nvSpPr>
        <p:spPr>
          <a:xfrm>
            <a:off x="7461504" y="1371600"/>
            <a:ext cx="2103120" cy="292608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27" name="Shape 25"/>
          <p:cNvSpPr/>
          <p:nvPr/>
        </p:nvSpPr>
        <p:spPr>
          <a:xfrm>
            <a:off x="7461504" y="1371600"/>
            <a:ext cx="2103120" cy="45720"/>
          </a:xfrm>
          <a:prstGeom prst="rect">
            <a:avLst/>
          </a:prstGeom>
          <a:solidFill>
            <a:srgbClr val="00B69F"/>
          </a:solidFill>
          <a:ln/>
        </p:spPr>
        <p:txBody>
          <a:bodyPr/>
          <a:lstStyle/>
          <a:p>
            <a:endParaRPr lang="en-GB"/>
          </a:p>
        </p:txBody>
      </p:sp>
      <p:sp>
        <p:nvSpPr>
          <p:cNvPr id="28" name="Shape 26"/>
          <p:cNvSpPr/>
          <p:nvPr/>
        </p:nvSpPr>
        <p:spPr>
          <a:xfrm>
            <a:off x="8193024" y="1600200"/>
            <a:ext cx="548640" cy="548640"/>
          </a:xfrm>
          <a:prstGeom prst="ellipse">
            <a:avLst/>
          </a:prstGeom>
          <a:solidFill>
            <a:srgbClr val="00B69F"/>
          </a:solidFill>
          <a:ln/>
        </p:spPr>
        <p:txBody>
          <a:bodyPr/>
          <a:lstStyle/>
          <a:p>
            <a:endParaRPr lang="en-GB"/>
          </a:p>
        </p:txBody>
      </p:sp>
      <p:sp>
        <p:nvSpPr>
          <p:cNvPr id="29" name="Text 27"/>
          <p:cNvSpPr/>
          <p:nvPr/>
        </p:nvSpPr>
        <p:spPr>
          <a:xfrm>
            <a:off x="8193024"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4</a:t>
            </a:r>
            <a:endParaRPr lang="en-US" sz="2000" dirty="0"/>
          </a:p>
        </p:txBody>
      </p:sp>
      <p:sp>
        <p:nvSpPr>
          <p:cNvPr id="30" name="Text 28"/>
          <p:cNvSpPr/>
          <p:nvPr/>
        </p:nvSpPr>
        <p:spPr>
          <a:xfrm>
            <a:off x="7598664" y="2331720"/>
            <a:ext cx="1828800" cy="365760"/>
          </a:xfrm>
          <a:prstGeom prst="rect">
            <a:avLst/>
          </a:prstGeom>
          <a:noFill/>
          <a:ln/>
        </p:spPr>
        <p:txBody>
          <a:bodyPr wrap="square" lIns="0" tIns="0" rIns="0" bIns="0" rtlCol="0" anchor="ctr"/>
          <a:lstStyle/>
          <a:p>
            <a:pPr marL="0" indent="0" algn="ctr">
              <a:buNone/>
            </a:pPr>
            <a:r>
              <a:rPr lang="en-US" sz="1400" b="1" dirty="0">
                <a:solidFill>
                  <a:srgbClr val="002747"/>
                </a:solidFill>
                <a:latin typeface="Poppins" pitchFamily="34" charset="0"/>
                <a:ea typeface="Poppins" pitchFamily="34" charset="-122"/>
                <a:cs typeface="Poppins" pitchFamily="34" charset="-120"/>
              </a:rPr>
              <a:t>Operator Counts</a:t>
            </a:r>
            <a:endParaRPr lang="en-US" sz="1400" dirty="0"/>
          </a:p>
        </p:txBody>
      </p:sp>
      <p:sp>
        <p:nvSpPr>
          <p:cNvPr id="31" name="Text 29"/>
          <p:cNvSpPr/>
          <p:nvPr/>
        </p:nvSpPr>
        <p:spPr>
          <a:xfrm>
            <a:off x="7598664" y="2788920"/>
            <a:ext cx="1828800" cy="1280160"/>
          </a:xfrm>
          <a:prstGeom prst="rect">
            <a:avLst/>
          </a:prstGeom>
          <a:noFill/>
          <a:ln/>
        </p:spPr>
        <p:txBody>
          <a:bodyPr wrap="square" lIns="0" tIns="0" rIns="0" bIns="0" rtlCol="0" anchor="ctr"/>
          <a:lstStyle/>
          <a:p>
            <a:pPr marL="0" indent="0" algn="ctr">
              <a:buNone/>
            </a:pPr>
            <a:r>
              <a:rPr lang="en-US" sz="1050" dirty="0">
                <a:solidFill>
                  <a:srgbClr val="4B5563"/>
                </a:solidFill>
                <a:latin typeface="Poppins" pitchFamily="34" charset="0"/>
                <a:ea typeface="Poppins" pitchFamily="34" charset="-122"/>
                <a:cs typeface="Poppins" pitchFamily="34" charset="-120"/>
              </a:rPr>
              <a:t>Teams count only flagged items. Results are captured immediately.</a:t>
            </a:r>
            <a:endParaRPr lang="en-US" sz="1050" dirty="0"/>
          </a:p>
        </p:txBody>
      </p:sp>
      <p:sp>
        <p:nvSpPr>
          <p:cNvPr id="32" name="Shape 30"/>
          <p:cNvSpPr/>
          <p:nvPr/>
        </p:nvSpPr>
        <p:spPr>
          <a:xfrm>
            <a:off x="9564624" y="2697480"/>
            <a:ext cx="201168" cy="27432"/>
          </a:xfrm>
          <a:prstGeom prst="rect">
            <a:avLst/>
          </a:prstGeom>
          <a:solidFill>
            <a:srgbClr val="00B69F"/>
          </a:solidFill>
          <a:ln/>
        </p:spPr>
        <p:txBody>
          <a:bodyPr/>
          <a:lstStyle/>
          <a:p>
            <a:endParaRPr lang="en-GB"/>
          </a:p>
        </p:txBody>
      </p:sp>
      <p:sp>
        <p:nvSpPr>
          <p:cNvPr id="33" name="Shape 31"/>
          <p:cNvSpPr/>
          <p:nvPr/>
        </p:nvSpPr>
        <p:spPr>
          <a:xfrm>
            <a:off x="9765792" y="1371600"/>
            <a:ext cx="2103120" cy="292608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34" name="Shape 32"/>
          <p:cNvSpPr/>
          <p:nvPr/>
        </p:nvSpPr>
        <p:spPr>
          <a:xfrm>
            <a:off x="9765792" y="1371600"/>
            <a:ext cx="2103120" cy="45720"/>
          </a:xfrm>
          <a:prstGeom prst="rect">
            <a:avLst/>
          </a:prstGeom>
          <a:solidFill>
            <a:srgbClr val="0C4A7D"/>
          </a:solidFill>
          <a:ln/>
        </p:spPr>
        <p:txBody>
          <a:bodyPr/>
          <a:lstStyle/>
          <a:p>
            <a:endParaRPr lang="en-GB"/>
          </a:p>
        </p:txBody>
      </p:sp>
      <p:sp>
        <p:nvSpPr>
          <p:cNvPr id="35" name="Shape 33"/>
          <p:cNvSpPr/>
          <p:nvPr/>
        </p:nvSpPr>
        <p:spPr>
          <a:xfrm>
            <a:off x="10497312" y="1600200"/>
            <a:ext cx="548640" cy="548640"/>
          </a:xfrm>
          <a:prstGeom prst="ellipse">
            <a:avLst/>
          </a:prstGeom>
          <a:solidFill>
            <a:srgbClr val="0C4A7D"/>
          </a:solidFill>
          <a:ln/>
        </p:spPr>
        <p:txBody>
          <a:bodyPr/>
          <a:lstStyle/>
          <a:p>
            <a:endParaRPr lang="en-GB"/>
          </a:p>
        </p:txBody>
      </p:sp>
      <p:sp>
        <p:nvSpPr>
          <p:cNvPr id="36" name="Text 34"/>
          <p:cNvSpPr/>
          <p:nvPr/>
        </p:nvSpPr>
        <p:spPr>
          <a:xfrm>
            <a:off x="10497312" y="1600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Poppins" pitchFamily="34" charset="0"/>
                <a:ea typeface="Poppins" pitchFamily="34" charset="-122"/>
                <a:cs typeface="Poppins" pitchFamily="34" charset="-120"/>
              </a:rPr>
              <a:t>5</a:t>
            </a:r>
            <a:endParaRPr lang="en-US" sz="2000" dirty="0"/>
          </a:p>
        </p:txBody>
      </p:sp>
      <p:sp>
        <p:nvSpPr>
          <p:cNvPr id="37" name="Text 35"/>
          <p:cNvSpPr/>
          <p:nvPr/>
        </p:nvSpPr>
        <p:spPr>
          <a:xfrm>
            <a:off x="9902952" y="2331720"/>
            <a:ext cx="1828800" cy="365760"/>
          </a:xfrm>
          <a:prstGeom prst="rect">
            <a:avLst/>
          </a:prstGeom>
          <a:noFill/>
          <a:ln/>
        </p:spPr>
        <p:txBody>
          <a:bodyPr wrap="square" lIns="0" tIns="0" rIns="0" bIns="0" rtlCol="0" anchor="ctr"/>
          <a:lstStyle/>
          <a:p>
            <a:pPr marL="0" indent="0" algn="ctr">
              <a:buNone/>
            </a:pPr>
            <a:r>
              <a:rPr lang="en-US" sz="1400" b="1" dirty="0">
                <a:solidFill>
                  <a:srgbClr val="002747"/>
                </a:solidFill>
                <a:latin typeface="Poppins" pitchFamily="34" charset="0"/>
                <a:ea typeface="Poppins" pitchFamily="34" charset="-122"/>
                <a:cs typeface="Poppins" pitchFamily="34" charset="-120"/>
              </a:rPr>
              <a:t>Results + Learn</a:t>
            </a:r>
            <a:endParaRPr lang="en-US" sz="1400" dirty="0"/>
          </a:p>
        </p:txBody>
      </p:sp>
      <p:sp>
        <p:nvSpPr>
          <p:cNvPr id="38" name="Text 36"/>
          <p:cNvSpPr/>
          <p:nvPr/>
        </p:nvSpPr>
        <p:spPr>
          <a:xfrm>
            <a:off x="9902952" y="2788920"/>
            <a:ext cx="1828800" cy="1280160"/>
          </a:xfrm>
          <a:prstGeom prst="rect">
            <a:avLst/>
          </a:prstGeom>
          <a:noFill/>
          <a:ln/>
        </p:spPr>
        <p:txBody>
          <a:bodyPr wrap="square" lIns="0" tIns="0" rIns="0" bIns="0" rtlCol="0" anchor="ctr"/>
          <a:lstStyle/>
          <a:p>
            <a:pPr marL="0" indent="0" algn="ctr">
              <a:buNone/>
            </a:pPr>
            <a:r>
              <a:rPr lang="en-US" sz="1050" dirty="0">
                <a:solidFill>
                  <a:srgbClr val="4B5563"/>
                </a:solidFill>
                <a:latin typeface="Poppins" pitchFamily="34" charset="0"/>
                <a:ea typeface="Poppins" pitchFamily="34" charset="-122"/>
                <a:cs typeface="Poppins" pitchFamily="34" charset="-120"/>
              </a:rPr>
              <a:t>Variance is shown as financial exposure. Outcomes improve the next cycle.</a:t>
            </a:r>
            <a:endParaRPr lang="en-US" sz="1050" dirty="0"/>
          </a:p>
        </p:txBody>
      </p:sp>
      <p:sp>
        <p:nvSpPr>
          <p:cNvPr id="39" name="Shape 37"/>
          <p:cNvSpPr/>
          <p:nvPr/>
        </p:nvSpPr>
        <p:spPr>
          <a:xfrm>
            <a:off x="548640" y="4480560"/>
            <a:ext cx="11064240" cy="594360"/>
          </a:xfrm>
          <a:prstGeom prst="rect">
            <a:avLst/>
          </a:prstGeom>
          <a:solidFill>
            <a:srgbClr val="002747"/>
          </a:solidFill>
          <a:ln/>
        </p:spPr>
        <p:txBody>
          <a:bodyPr/>
          <a:lstStyle/>
          <a:p>
            <a:endParaRPr lang="en-GB"/>
          </a:p>
        </p:txBody>
      </p:sp>
      <p:pic>
        <p:nvPicPr>
          <p:cNvPr id="40" name="Image 0" descr="preencoded.png"/>
          <p:cNvPicPr>
            <a:picLocks noChangeAspect="1"/>
          </p:cNvPicPr>
          <p:nvPr/>
        </p:nvPicPr>
        <p:blipFill>
          <a:blip r:embed="rId3"/>
          <a:stretch>
            <a:fillRect/>
          </a:stretch>
        </p:blipFill>
        <p:spPr>
          <a:xfrm>
            <a:off x="914400" y="4572000"/>
            <a:ext cx="365760" cy="365760"/>
          </a:xfrm>
          <a:prstGeom prst="rect">
            <a:avLst/>
          </a:prstGeom>
        </p:spPr>
      </p:pic>
      <p:sp>
        <p:nvSpPr>
          <p:cNvPr id="41" name="Text 38"/>
          <p:cNvSpPr/>
          <p:nvPr/>
        </p:nvSpPr>
        <p:spPr>
          <a:xfrm>
            <a:off x="1463040" y="4553712"/>
            <a:ext cx="2743200" cy="228600"/>
          </a:xfrm>
          <a:prstGeom prst="rect">
            <a:avLst/>
          </a:prstGeom>
          <a:noFill/>
          <a:ln/>
        </p:spPr>
        <p:txBody>
          <a:bodyPr wrap="square" lIns="0" tIns="0" rIns="0" bIns="0" rtlCol="0" anchor="ctr"/>
          <a:lstStyle/>
          <a:p>
            <a:pPr marL="0" indent="0">
              <a:buNone/>
            </a:pPr>
            <a:r>
              <a:rPr lang="en-US" sz="1100" b="1" dirty="0">
                <a:solidFill>
                  <a:srgbClr val="00B69F"/>
                </a:solidFill>
                <a:latin typeface="Poppins" pitchFamily="34" charset="0"/>
                <a:ea typeface="Poppins" pitchFamily="34" charset="-122"/>
                <a:cs typeface="Poppins" pitchFamily="34" charset="-120"/>
              </a:rPr>
              <a:t>Continuous Learning Loop</a:t>
            </a:r>
            <a:endParaRPr lang="en-US" sz="1100" dirty="0"/>
          </a:p>
        </p:txBody>
      </p:sp>
      <p:sp>
        <p:nvSpPr>
          <p:cNvPr id="42" name="Text 39"/>
          <p:cNvSpPr/>
          <p:nvPr/>
        </p:nvSpPr>
        <p:spPr>
          <a:xfrm>
            <a:off x="1463040" y="4800600"/>
            <a:ext cx="9601200" cy="228600"/>
          </a:xfrm>
          <a:prstGeom prst="rect">
            <a:avLst/>
          </a:prstGeom>
          <a:noFill/>
          <a:ln/>
        </p:spPr>
        <p:txBody>
          <a:bodyPr wrap="square" lIns="0" tIns="0" rIns="0" bIns="0" rtlCol="0" anchor="ctr"/>
          <a:lstStyle/>
          <a:p>
            <a:pPr marL="0" indent="0">
              <a:buNone/>
            </a:pPr>
            <a:r>
              <a:rPr lang="en-US" sz="1000" dirty="0">
                <a:solidFill>
                  <a:srgbClr val="CFD1D1"/>
                </a:solidFill>
                <a:latin typeface="Poppins" pitchFamily="34" charset="0"/>
                <a:ea typeface="Poppins" pitchFamily="34" charset="-122"/>
                <a:cs typeface="Poppins" pitchFamily="34" charset="-120"/>
              </a:rPr>
              <a:t>Every count result feeds back into Step 1. The model improves each cycle. Items that had no variance are deprioritised. Items with repeated issues are escalated. The system gets smarter the more your teams use it.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64008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What Your Operators Experience</a:t>
            </a:r>
            <a:endParaRPr lang="en-US" sz="2800" dirty="0"/>
          </a:p>
        </p:txBody>
      </p:sp>
      <p:sp>
        <p:nvSpPr>
          <p:cNvPr id="4" name="Text 2"/>
          <p:cNvSpPr/>
          <p:nvPr/>
        </p:nvSpPr>
        <p:spPr>
          <a:xfrm>
            <a:off x="731520" y="960120"/>
            <a:ext cx="9144000" cy="320040"/>
          </a:xfrm>
          <a:prstGeom prst="rect">
            <a:avLst/>
          </a:prstGeom>
          <a:noFill/>
          <a:ln/>
        </p:spPr>
        <p:txBody>
          <a:bodyPr wrap="square" lIns="0" tIns="0" rIns="0" bIns="0" rtlCol="0" anchor="ctr"/>
          <a:lstStyle/>
          <a:p>
            <a:pPr marL="0" indent="0">
              <a:buNone/>
            </a:pPr>
            <a:r>
              <a:rPr lang="en-US" sz="1300" dirty="0">
                <a:solidFill>
                  <a:srgbClr val="0C4A7D"/>
                </a:solidFill>
                <a:latin typeface="Poppins" pitchFamily="34" charset="0"/>
                <a:ea typeface="Poppins" pitchFamily="34" charset="-122"/>
                <a:cs typeface="Poppins" pitchFamily="34" charset="-120"/>
              </a:rPr>
              <a:t>The day-to-day change for the people doing the counting.</a:t>
            </a:r>
            <a:endParaRPr lang="en-US" sz="1300" dirty="0"/>
          </a:p>
        </p:txBody>
      </p:sp>
      <p:sp>
        <p:nvSpPr>
          <p:cNvPr id="5" name="Shape 3"/>
          <p:cNvSpPr/>
          <p:nvPr/>
        </p:nvSpPr>
        <p:spPr>
          <a:xfrm>
            <a:off x="731520" y="1554480"/>
            <a:ext cx="10698480" cy="86868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1005840" y="1755648"/>
            <a:ext cx="411480" cy="411480"/>
          </a:xfrm>
          <a:prstGeom prst="ellipse">
            <a:avLst/>
          </a:prstGeom>
          <a:solidFill>
            <a:srgbClr val="00B69F"/>
          </a:solidFill>
          <a:ln/>
        </p:spPr>
        <p:txBody>
          <a:bodyPr/>
          <a:lstStyle/>
          <a:p>
            <a:endParaRPr lang="en-GB"/>
          </a:p>
        </p:txBody>
      </p:sp>
      <p:sp>
        <p:nvSpPr>
          <p:cNvPr id="7" name="Text 5"/>
          <p:cNvSpPr/>
          <p:nvPr/>
        </p:nvSpPr>
        <p:spPr>
          <a:xfrm>
            <a:off x="1005840" y="175564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1</a:t>
            </a:r>
            <a:endParaRPr lang="en-US" sz="1400" dirty="0"/>
          </a:p>
        </p:txBody>
      </p:sp>
      <p:sp>
        <p:nvSpPr>
          <p:cNvPr id="8" name="Text 6"/>
          <p:cNvSpPr/>
          <p:nvPr/>
        </p:nvSpPr>
        <p:spPr>
          <a:xfrm>
            <a:off x="1600200" y="1645920"/>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Open the Counting App</a:t>
            </a:r>
            <a:endParaRPr lang="en-US" sz="1400" dirty="0"/>
          </a:p>
        </p:txBody>
      </p:sp>
      <p:sp>
        <p:nvSpPr>
          <p:cNvPr id="9" name="Text 7"/>
          <p:cNvSpPr/>
          <p:nvPr/>
        </p:nvSpPr>
        <p:spPr>
          <a:xfrm>
            <a:off x="1600200" y="1993392"/>
            <a:ext cx="9418320" cy="36576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Instead of a full inventory list, they see a short, prioritised set of items to count. Typically 30-50 items rather than 100+.</a:t>
            </a:r>
            <a:endParaRPr lang="en-US" sz="1100" dirty="0"/>
          </a:p>
        </p:txBody>
      </p:sp>
      <p:sp>
        <p:nvSpPr>
          <p:cNvPr id="10" name="Shape 8"/>
          <p:cNvSpPr/>
          <p:nvPr/>
        </p:nvSpPr>
        <p:spPr>
          <a:xfrm>
            <a:off x="731520" y="2606040"/>
            <a:ext cx="1069848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1" name="Shape 9"/>
          <p:cNvSpPr/>
          <p:nvPr/>
        </p:nvSpPr>
        <p:spPr>
          <a:xfrm>
            <a:off x="1005840" y="2807208"/>
            <a:ext cx="411480" cy="411480"/>
          </a:xfrm>
          <a:prstGeom prst="ellipse">
            <a:avLst/>
          </a:prstGeom>
          <a:solidFill>
            <a:srgbClr val="00B69F"/>
          </a:solidFill>
          <a:ln/>
        </p:spPr>
        <p:txBody>
          <a:bodyPr/>
          <a:lstStyle/>
          <a:p>
            <a:endParaRPr lang="en-GB"/>
          </a:p>
        </p:txBody>
      </p:sp>
      <p:sp>
        <p:nvSpPr>
          <p:cNvPr id="12" name="Text 10"/>
          <p:cNvSpPr/>
          <p:nvPr/>
        </p:nvSpPr>
        <p:spPr>
          <a:xfrm>
            <a:off x="1005840" y="280720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2</a:t>
            </a:r>
            <a:endParaRPr lang="en-US" sz="1400" dirty="0"/>
          </a:p>
        </p:txBody>
      </p:sp>
      <p:sp>
        <p:nvSpPr>
          <p:cNvPr id="13" name="Text 11"/>
          <p:cNvSpPr/>
          <p:nvPr/>
        </p:nvSpPr>
        <p:spPr>
          <a:xfrm>
            <a:off x="1600200" y="2697480"/>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See Why Each Item Is Flagged</a:t>
            </a:r>
            <a:endParaRPr lang="en-US" sz="1400" dirty="0"/>
          </a:p>
        </p:txBody>
      </p:sp>
      <p:sp>
        <p:nvSpPr>
          <p:cNvPr id="14" name="Text 12"/>
          <p:cNvSpPr/>
          <p:nvPr/>
        </p:nvSpPr>
        <p:spPr>
          <a:xfrm>
            <a:off x="1600200" y="3044952"/>
            <a:ext cx="9418320" cy="36576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Every item shows a reason: 'High risk, value £4.80, last counted 6 days ago' or 'On promotion, variance likely.' They understand the logic.</a:t>
            </a:r>
            <a:endParaRPr lang="en-US" sz="1100" dirty="0"/>
          </a:p>
        </p:txBody>
      </p:sp>
      <p:sp>
        <p:nvSpPr>
          <p:cNvPr id="15" name="Shape 13"/>
          <p:cNvSpPr/>
          <p:nvPr/>
        </p:nvSpPr>
        <p:spPr>
          <a:xfrm>
            <a:off x="731520" y="3657600"/>
            <a:ext cx="10698480" cy="86868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16" name="Shape 14"/>
          <p:cNvSpPr/>
          <p:nvPr/>
        </p:nvSpPr>
        <p:spPr>
          <a:xfrm>
            <a:off x="1005840" y="3858768"/>
            <a:ext cx="411480" cy="411480"/>
          </a:xfrm>
          <a:prstGeom prst="ellipse">
            <a:avLst/>
          </a:prstGeom>
          <a:solidFill>
            <a:srgbClr val="00B69F"/>
          </a:solidFill>
          <a:ln/>
        </p:spPr>
        <p:txBody>
          <a:bodyPr/>
          <a:lstStyle/>
          <a:p>
            <a:endParaRPr lang="en-GB"/>
          </a:p>
        </p:txBody>
      </p:sp>
      <p:sp>
        <p:nvSpPr>
          <p:cNvPr id="17" name="Text 15"/>
          <p:cNvSpPr/>
          <p:nvPr/>
        </p:nvSpPr>
        <p:spPr>
          <a:xfrm>
            <a:off x="1005840" y="385876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3</a:t>
            </a:r>
            <a:endParaRPr lang="en-US" sz="1400" dirty="0"/>
          </a:p>
        </p:txBody>
      </p:sp>
      <p:sp>
        <p:nvSpPr>
          <p:cNvPr id="18" name="Text 16"/>
          <p:cNvSpPr/>
          <p:nvPr/>
        </p:nvSpPr>
        <p:spPr>
          <a:xfrm>
            <a:off x="1600200" y="3749040"/>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Count and Record</a:t>
            </a:r>
            <a:endParaRPr lang="en-US" sz="1400" dirty="0"/>
          </a:p>
        </p:txBody>
      </p:sp>
      <p:sp>
        <p:nvSpPr>
          <p:cNvPr id="19" name="Text 17"/>
          <p:cNvSpPr/>
          <p:nvPr/>
        </p:nvSpPr>
        <p:spPr>
          <a:xfrm>
            <a:off x="1600200" y="4096512"/>
            <a:ext cx="9418320" cy="36576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Standard counting workflow. No change to the physical process. The difference is what they are counting and why.</a:t>
            </a:r>
            <a:endParaRPr lang="en-US" sz="1100" dirty="0"/>
          </a:p>
        </p:txBody>
      </p:sp>
      <p:sp>
        <p:nvSpPr>
          <p:cNvPr id="20" name="Shape 18"/>
          <p:cNvSpPr/>
          <p:nvPr/>
        </p:nvSpPr>
        <p:spPr>
          <a:xfrm>
            <a:off x="731520" y="4709160"/>
            <a:ext cx="1069848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21" name="Shape 19"/>
          <p:cNvSpPr/>
          <p:nvPr/>
        </p:nvSpPr>
        <p:spPr>
          <a:xfrm>
            <a:off x="1005840" y="4910328"/>
            <a:ext cx="411480" cy="411480"/>
          </a:xfrm>
          <a:prstGeom prst="ellipse">
            <a:avLst/>
          </a:prstGeom>
          <a:solidFill>
            <a:srgbClr val="00B69F"/>
          </a:solidFill>
          <a:ln/>
        </p:spPr>
        <p:txBody>
          <a:bodyPr/>
          <a:lstStyle/>
          <a:p>
            <a:endParaRPr lang="en-GB"/>
          </a:p>
        </p:txBody>
      </p:sp>
      <p:sp>
        <p:nvSpPr>
          <p:cNvPr id="22" name="Text 20"/>
          <p:cNvSpPr/>
          <p:nvPr/>
        </p:nvSpPr>
        <p:spPr>
          <a:xfrm>
            <a:off x="1005840" y="491032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4</a:t>
            </a:r>
            <a:endParaRPr lang="en-US" sz="1400" dirty="0"/>
          </a:p>
        </p:txBody>
      </p:sp>
      <p:sp>
        <p:nvSpPr>
          <p:cNvPr id="23" name="Text 21"/>
          <p:cNvSpPr/>
          <p:nvPr/>
        </p:nvSpPr>
        <p:spPr>
          <a:xfrm>
            <a:off x="1600200" y="4800600"/>
            <a:ext cx="3657600" cy="32004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Results Are Immediate</a:t>
            </a:r>
            <a:endParaRPr lang="en-US" sz="1400" dirty="0"/>
          </a:p>
        </p:txBody>
      </p:sp>
      <p:sp>
        <p:nvSpPr>
          <p:cNvPr id="24" name="Text 22"/>
          <p:cNvSpPr/>
          <p:nvPr/>
        </p:nvSpPr>
        <p:spPr>
          <a:xfrm>
            <a:off x="1600200" y="5148072"/>
            <a:ext cx="9418320" cy="365760"/>
          </a:xfrm>
          <a:prstGeom prst="rect">
            <a:avLst/>
          </a:prstGeom>
          <a:noFill/>
          <a:ln/>
        </p:spPr>
        <p:txBody>
          <a:bodyPr wrap="square" lIns="0" tIns="0" rIns="0" bIns="0" rtlCol="0" anchor="ctr"/>
          <a:lstStyle/>
          <a:p>
            <a:pPr marL="0" indent="0">
              <a:buNone/>
            </a:pPr>
            <a:r>
              <a:rPr lang="en-US" sz="1100" dirty="0">
                <a:solidFill>
                  <a:srgbClr val="4B5563"/>
                </a:solidFill>
                <a:latin typeface="Poppins" pitchFamily="34" charset="0"/>
                <a:ea typeface="Poppins" pitchFamily="34" charset="-122"/>
                <a:cs typeface="Poppins" pitchFamily="34" charset="-120"/>
              </a:rPr>
              <a:t>Variance appears instantly in Fourth iQ as financial exposure. Managers see what was found and what it means.</a:t>
            </a:r>
            <a:endParaRPr lang="en-US" sz="1100" dirty="0"/>
          </a:p>
        </p:txBody>
      </p:sp>
      <p:sp>
        <p:nvSpPr>
          <p:cNvPr id="25" name="Shape 23"/>
          <p:cNvSpPr/>
          <p:nvPr/>
        </p:nvSpPr>
        <p:spPr>
          <a:xfrm>
            <a:off x="731520" y="5577840"/>
            <a:ext cx="10698480" cy="548640"/>
          </a:xfrm>
          <a:prstGeom prst="rect">
            <a:avLst/>
          </a:prstGeom>
          <a:solidFill>
            <a:srgbClr val="002747"/>
          </a:solidFill>
          <a:ln/>
        </p:spPr>
        <p:txBody>
          <a:bodyPr/>
          <a:lstStyle/>
          <a:p>
            <a:endParaRPr lang="en-GB"/>
          </a:p>
        </p:txBody>
      </p:sp>
      <p:sp>
        <p:nvSpPr>
          <p:cNvPr id="26" name="Text 24"/>
          <p:cNvSpPr/>
          <p:nvPr/>
        </p:nvSpPr>
        <p:spPr>
          <a:xfrm>
            <a:off x="1097280" y="5623560"/>
            <a:ext cx="9601200" cy="411480"/>
          </a:xfrm>
          <a:prstGeom prst="rect">
            <a:avLst/>
          </a:prstGeom>
          <a:noFill/>
          <a:ln/>
        </p:spPr>
        <p:txBody>
          <a:bodyPr wrap="square" lIns="0" tIns="0" rIns="0" bIns="0" rtlCol="0" anchor="ctr"/>
          <a:lstStyle/>
          <a:p>
            <a:pPr marL="0" indent="0">
              <a:buNone/>
            </a:pPr>
            <a:r>
              <a:rPr lang="en-US" sz="1200" b="1" dirty="0">
                <a:solidFill>
                  <a:srgbClr val="00B69F"/>
                </a:solidFill>
                <a:latin typeface="Poppins" pitchFamily="34" charset="0"/>
                <a:ea typeface="Poppins" pitchFamily="34" charset="-122"/>
                <a:cs typeface="Poppins" pitchFamily="34" charset="-120"/>
              </a:rPr>
              <a:t>The physical counting process does not change. What changes is what gets counted and why.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64008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What Managers See in Fourth iQ</a:t>
            </a:r>
            <a:endParaRPr lang="en-US" sz="2800" dirty="0"/>
          </a:p>
        </p:txBody>
      </p:sp>
      <p:sp>
        <p:nvSpPr>
          <p:cNvPr id="4" name="Text 2"/>
          <p:cNvSpPr/>
          <p:nvPr/>
        </p:nvSpPr>
        <p:spPr>
          <a:xfrm>
            <a:off x="731520" y="960120"/>
            <a:ext cx="9144000" cy="320040"/>
          </a:xfrm>
          <a:prstGeom prst="rect">
            <a:avLst/>
          </a:prstGeom>
          <a:noFill/>
          <a:ln/>
        </p:spPr>
        <p:txBody>
          <a:bodyPr wrap="square" lIns="0" tIns="0" rIns="0" bIns="0" rtlCol="0" anchor="ctr"/>
          <a:lstStyle/>
          <a:p>
            <a:pPr marL="0" indent="0">
              <a:buNone/>
            </a:pPr>
            <a:r>
              <a:rPr lang="en-US" sz="1300" dirty="0">
                <a:solidFill>
                  <a:srgbClr val="0C4A7D"/>
                </a:solidFill>
                <a:latin typeface="Poppins" pitchFamily="34" charset="0"/>
                <a:ea typeface="Poppins" pitchFamily="34" charset="-122"/>
                <a:cs typeface="Poppins" pitchFamily="34" charset="-120"/>
              </a:rPr>
              <a:t>A single console designed for area and regional managers, with three views.</a:t>
            </a:r>
            <a:endParaRPr lang="en-US" sz="1300" dirty="0"/>
          </a:p>
        </p:txBody>
      </p:sp>
      <p:sp>
        <p:nvSpPr>
          <p:cNvPr id="5" name="Shape 3"/>
          <p:cNvSpPr/>
          <p:nvPr/>
        </p:nvSpPr>
        <p:spPr>
          <a:xfrm>
            <a:off x="731520" y="1463040"/>
            <a:ext cx="10698480" cy="12344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731520" y="1463040"/>
            <a:ext cx="73152" cy="1234440"/>
          </a:xfrm>
          <a:prstGeom prst="rect">
            <a:avLst/>
          </a:prstGeom>
          <a:solidFill>
            <a:srgbClr val="00B69F"/>
          </a:solidFill>
          <a:ln/>
        </p:spPr>
        <p:txBody>
          <a:bodyPr/>
          <a:lstStyle/>
          <a:p>
            <a:endParaRPr lang="en-GB"/>
          </a:p>
        </p:txBody>
      </p:sp>
      <p:sp>
        <p:nvSpPr>
          <p:cNvPr id="7" name="Text 5"/>
          <p:cNvSpPr/>
          <p:nvPr/>
        </p:nvSpPr>
        <p:spPr>
          <a:xfrm>
            <a:off x="1097280" y="1536192"/>
            <a:ext cx="1828800" cy="320040"/>
          </a:xfrm>
          <a:prstGeom prst="rect">
            <a:avLst/>
          </a:prstGeom>
          <a:noFill/>
          <a:ln/>
        </p:spPr>
        <p:txBody>
          <a:bodyPr wrap="square" lIns="0" tIns="0" rIns="0" bIns="0" rtlCol="0" anchor="ctr"/>
          <a:lstStyle/>
          <a:p>
            <a:pPr marL="0" indent="0">
              <a:buNone/>
            </a:pPr>
            <a:r>
              <a:rPr lang="en-US" sz="1800" b="1" dirty="0">
                <a:solidFill>
                  <a:srgbClr val="002747"/>
                </a:solidFill>
                <a:latin typeface="Poppins" pitchFamily="34" charset="0"/>
                <a:ea typeface="Poppins" pitchFamily="34" charset="-122"/>
                <a:cs typeface="Poppins" pitchFamily="34" charset="-120"/>
              </a:rPr>
              <a:t>Results</a:t>
            </a:r>
            <a:endParaRPr lang="en-US" sz="1800" dirty="0"/>
          </a:p>
        </p:txBody>
      </p:sp>
      <p:sp>
        <p:nvSpPr>
          <p:cNvPr id="8" name="Text 6"/>
          <p:cNvSpPr/>
          <p:nvPr/>
        </p:nvSpPr>
        <p:spPr>
          <a:xfrm>
            <a:off x="3017520" y="1554480"/>
            <a:ext cx="4572000" cy="274320"/>
          </a:xfrm>
          <a:prstGeom prst="rect">
            <a:avLst/>
          </a:prstGeom>
          <a:noFill/>
          <a:ln/>
        </p:spPr>
        <p:txBody>
          <a:bodyPr wrap="square" lIns="0" tIns="0" rIns="0" bIns="0" rtlCol="0" anchor="ctr"/>
          <a:lstStyle/>
          <a:p>
            <a:pPr marL="0" indent="0">
              <a:buNone/>
            </a:pPr>
            <a:r>
              <a:rPr lang="en-US" sz="1100" i="1" dirty="0">
                <a:solidFill>
                  <a:srgbClr val="0C4A7D"/>
                </a:solidFill>
                <a:latin typeface="Poppins" pitchFamily="34" charset="0"/>
                <a:ea typeface="Poppins" pitchFamily="34" charset="-122"/>
                <a:cs typeface="Poppins" pitchFamily="34" charset="-120"/>
              </a:rPr>
              <a:t>What was recommended, what was counted, what happened</a:t>
            </a:r>
            <a:endParaRPr lang="en-US" sz="1100" dirty="0"/>
          </a:p>
        </p:txBody>
      </p:sp>
      <p:sp>
        <p:nvSpPr>
          <p:cNvPr id="9" name="Text 7"/>
          <p:cNvSpPr/>
          <p:nvPr/>
        </p:nvSpPr>
        <p:spPr>
          <a:xfrm>
            <a:off x="1097280" y="1920240"/>
            <a:ext cx="9875520" cy="68580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Every item is expandable. Click to see why it was flagged, the variance calculation (theoretical stock vs actual count vs financial exposure), and for uncounted items, an AI estimate of likely variance with a confidence score. Filter by status: all recommended, counted, not counted, or variance found.</a:t>
            </a:r>
            <a:endParaRPr lang="en-US" sz="1050" dirty="0"/>
          </a:p>
        </p:txBody>
      </p:sp>
      <p:sp>
        <p:nvSpPr>
          <p:cNvPr id="10" name="Shape 8"/>
          <p:cNvSpPr/>
          <p:nvPr/>
        </p:nvSpPr>
        <p:spPr>
          <a:xfrm>
            <a:off x="731520" y="2926080"/>
            <a:ext cx="10698480" cy="12344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1" name="Shape 9"/>
          <p:cNvSpPr/>
          <p:nvPr/>
        </p:nvSpPr>
        <p:spPr>
          <a:xfrm>
            <a:off x="731520" y="2926080"/>
            <a:ext cx="73152" cy="1234440"/>
          </a:xfrm>
          <a:prstGeom prst="rect">
            <a:avLst/>
          </a:prstGeom>
          <a:solidFill>
            <a:srgbClr val="6FB4E3"/>
          </a:solidFill>
          <a:ln/>
        </p:spPr>
        <p:txBody>
          <a:bodyPr/>
          <a:lstStyle/>
          <a:p>
            <a:endParaRPr lang="en-GB"/>
          </a:p>
        </p:txBody>
      </p:sp>
      <p:sp>
        <p:nvSpPr>
          <p:cNvPr id="12" name="Text 10"/>
          <p:cNvSpPr/>
          <p:nvPr/>
        </p:nvSpPr>
        <p:spPr>
          <a:xfrm>
            <a:off x="1097280" y="2999232"/>
            <a:ext cx="1828800" cy="320040"/>
          </a:xfrm>
          <a:prstGeom prst="rect">
            <a:avLst/>
          </a:prstGeom>
          <a:noFill/>
          <a:ln/>
        </p:spPr>
        <p:txBody>
          <a:bodyPr wrap="square" lIns="0" tIns="0" rIns="0" bIns="0" rtlCol="0" anchor="ctr"/>
          <a:lstStyle/>
          <a:p>
            <a:pPr marL="0" indent="0">
              <a:buNone/>
            </a:pPr>
            <a:r>
              <a:rPr lang="en-US" sz="1800" b="1" dirty="0">
                <a:solidFill>
                  <a:srgbClr val="002747"/>
                </a:solidFill>
                <a:latin typeface="Poppins" pitchFamily="34" charset="0"/>
                <a:ea typeface="Poppins" pitchFamily="34" charset="-122"/>
                <a:cs typeface="Poppins" pitchFamily="34" charset="-120"/>
              </a:rPr>
              <a:t>Controls</a:t>
            </a:r>
            <a:endParaRPr lang="en-US" sz="1800" dirty="0"/>
          </a:p>
        </p:txBody>
      </p:sp>
      <p:sp>
        <p:nvSpPr>
          <p:cNvPr id="13" name="Text 11"/>
          <p:cNvSpPr/>
          <p:nvPr/>
        </p:nvSpPr>
        <p:spPr>
          <a:xfrm>
            <a:off x="3017520" y="3017520"/>
            <a:ext cx="4572000" cy="274320"/>
          </a:xfrm>
          <a:prstGeom prst="rect">
            <a:avLst/>
          </a:prstGeom>
          <a:noFill/>
          <a:ln/>
        </p:spPr>
        <p:txBody>
          <a:bodyPr wrap="square" lIns="0" tIns="0" rIns="0" bIns="0" rtlCol="0" anchor="ctr"/>
          <a:lstStyle/>
          <a:p>
            <a:pPr marL="0" indent="0">
              <a:buNone/>
            </a:pPr>
            <a:r>
              <a:rPr lang="en-US" sz="1100" i="1" dirty="0">
                <a:solidFill>
                  <a:srgbClr val="0C4A7D"/>
                </a:solidFill>
                <a:latin typeface="Poppins" pitchFamily="34" charset="0"/>
                <a:ea typeface="Poppins" pitchFamily="34" charset="-122"/>
                <a:cs typeface="Poppins" pitchFamily="34" charset="-120"/>
              </a:rPr>
              <a:t>Set the rules for what gets counted</a:t>
            </a:r>
            <a:endParaRPr lang="en-US" sz="1100" dirty="0"/>
          </a:p>
        </p:txBody>
      </p:sp>
      <p:sp>
        <p:nvSpPr>
          <p:cNvPr id="14" name="Text 12"/>
          <p:cNvSpPr/>
          <p:nvPr/>
        </p:nvSpPr>
        <p:spPr>
          <a:xfrm>
            <a:off x="1097280" y="3383280"/>
            <a:ext cx="9875520" cy="68580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Toggle categories on or off. Set minimum item value, rate of sale, and risk level thresholds per category. Set how many days between counts. Create custom override rules like 'always flag high-value chilled items' or 'skip low-ROS ambient.' A live preview shows exactly which items would be affected before you apply any change.</a:t>
            </a:r>
            <a:endParaRPr lang="en-US" sz="1050" dirty="0"/>
          </a:p>
        </p:txBody>
      </p:sp>
      <p:sp>
        <p:nvSpPr>
          <p:cNvPr id="15" name="Shape 13"/>
          <p:cNvSpPr/>
          <p:nvPr/>
        </p:nvSpPr>
        <p:spPr>
          <a:xfrm>
            <a:off x="731520" y="4389120"/>
            <a:ext cx="10698480" cy="12344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6" name="Shape 14"/>
          <p:cNvSpPr/>
          <p:nvPr/>
        </p:nvSpPr>
        <p:spPr>
          <a:xfrm>
            <a:off x="731520" y="4389120"/>
            <a:ext cx="73152" cy="1234440"/>
          </a:xfrm>
          <a:prstGeom prst="rect">
            <a:avLst/>
          </a:prstGeom>
          <a:solidFill>
            <a:srgbClr val="0C4A7D"/>
          </a:solidFill>
          <a:ln/>
        </p:spPr>
        <p:txBody>
          <a:bodyPr/>
          <a:lstStyle/>
          <a:p>
            <a:endParaRPr lang="en-GB"/>
          </a:p>
        </p:txBody>
      </p:sp>
      <p:sp>
        <p:nvSpPr>
          <p:cNvPr id="17" name="Text 15"/>
          <p:cNvSpPr/>
          <p:nvPr/>
        </p:nvSpPr>
        <p:spPr>
          <a:xfrm>
            <a:off x="1097280" y="4462272"/>
            <a:ext cx="1828800" cy="320040"/>
          </a:xfrm>
          <a:prstGeom prst="rect">
            <a:avLst/>
          </a:prstGeom>
          <a:noFill/>
          <a:ln/>
        </p:spPr>
        <p:txBody>
          <a:bodyPr wrap="square" lIns="0" tIns="0" rIns="0" bIns="0" rtlCol="0" anchor="ctr"/>
          <a:lstStyle/>
          <a:p>
            <a:pPr marL="0" indent="0">
              <a:buNone/>
            </a:pPr>
            <a:r>
              <a:rPr lang="en-US" sz="1800" b="1" dirty="0">
                <a:solidFill>
                  <a:srgbClr val="002747"/>
                </a:solidFill>
                <a:latin typeface="Poppins" pitchFamily="34" charset="0"/>
                <a:ea typeface="Poppins" pitchFamily="34" charset="-122"/>
                <a:cs typeface="Poppins" pitchFamily="34" charset="-120"/>
              </a:rPr>
              <a:t>Performance</a:t>
            </a:r>
            <a:endParaRPr lang="en-US" sz="1800" dirty="0"/>
          </a:p>
        </p:txBody>
      </p:sp>
      <p:sp>
        <p:nvSpPr>
          <p:cNvPr id="18" name="Text 16"/>
          <p:cNvSpPr/>
          <p:nvPr/>
        </p:nvSpPr>
        <p:spPr>
          <a:xfrm>
            <a:off x="3017520" y="4480560"/>
            <a:ext cx="4572000" cy="274320"/>
          </a:xfrm>
          <a:prstGeom prst="rect">
            <a:avLst/>
          </a:prstGeom>
          <a:noFill/>
          <a:ln/>
        </p:spPr>
        <p:txBody>
          <a:bodyPr wrap="square" lIns="0" tIns="0" rIns="0" bIns="0" rtlCol="0" anchor="ctr"/>
          <a:lstStyle/>
          <a:p>
            <a:pPr marL="0" indent="0">
              <a:buNone/>
            </a:pPr>
            <a:r>
              <a:rPr lang="en-US" sz="1100" i="1" dirty="0">
                <a:solidFill>
                  <a:srgbClr val="0C4A7D"/>
                </a:solidFill>
                <a:latin typeface="Poppins" pitchFamily="34" charset="0"/>
                <a:ea typeface="Poppins" pitchFamily="34" charset="-122"/>
                <a:cs typeface="Poppins" pitchFamily="34" charset="-120"/>
              </a:rPr>
              <a:t>Is the system working?</a:t>
            </a:r>
            <a:endParaRPr lang="en-US" sz="1100" dirty="0"/>
          </a:p>
        </p:txBody>
      </p:sp>
      <p:sp>
        <p:nvSpPr>
          <p:cNvPr id="19" name="Text 17"/>
          <p:cNvSpPr/>
          <p:nvPr/>
        </p:nvSpPr>
        <p:spPr>
          <a:xfrm>
            <a:off x="1097280" y="4846320"/>
            <a:ext cx="9875520" cy="68580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Prediction accuracy by category. Data quality health checks. Operator adoption and understanding metrics. This is how you track value and identify where to adjust.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64008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Why Every Item Shows Its Reason</a:t>
            </a:r>
            <a:endParaRPr lang="en-US" sz="2800" dirty="0"/>
          </a:p>
        </p:txBody>
      </p:sp>
      <p:sp>
        <p:nvSpPr>
          <p:cNvPr id="4" name="Text 2"/>
          <p:cNvSpPr/>
          <p:nvPr/>
        </p:nvSpPr>
        <p:spPr>
          <a:xfrm>
            <a:off x="731520" y="960120"/>
            <a:ext cx="9144000" cy="365760"/>
          </a:xfrm>
          <a:prstGeom prst="rect">
            <a:avLst/>
          </a:prstGeom>
          <a:noFill/>
          <a:ln/>
        </p:spPr>
        <p:txBody>
          <a:bodyPr wrap="square" lIns="0" tIns="0" rIns="0" bIns="0" rtlCol="0" anchor="ctr"/>
          <a:lstStyle/>
          <a:p>
            <a:pPr marL="0" indent="0">
              <a:buNone/>
            </a:pPr>
            <a:r>
              <a:rPr lang="en-US" sz="1300" dirty="0">
                <a:solidFill>
                  <a:srgbClr val="0C4A7D"/>
                </a:solidFill>
                <a:latin typeface="Poppins" pitchFamily="34" charset="0"/>
                <a:ea typeface="Poppins" pitchFamily="34" charset="-122"/>
                <a:cs typeface="Poppins" pitchFamily="34" charset="-120"/>
              </a:rPr>
              <a:t>Trust is built on transparency. Here is what your teams see for every flagged item.</a:t>
            </a:r>
            <a:endParaRPr lang="en-US" sz="1300" dirty="0"/>
          </a:p>
        </p:txBody>
      </p:sp>
      <p:sp>
        <p:nvSpPr>
          <p:cNvPr id="5" name="Shape 3"/>
          <p:cNvSpPr/>
          <p:nvPr/>
        </p:nvSpPr>
        <p:spPr>
          <a:xfrm>
            <a:off x="731520" y="1554480"/>
            <a:ext cx="10698480" cy="2286000"/>
          </a:xfrm>
          <a:prstGeom prst="rect">
            <a:avLst/>
          </a:prstGeom>
          <a:solidFill>
            <a:srgbClr val="F5F5F5"/>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731520" y="1554480"/>
            <a:ext cx="73152" cy="2286000"/>
          </a:xfrm>
          <a:prstGeom prst="rect">
            <a:avLst/>
          </a:prstGeom>
          <a:solidFill>
            <a:srgbClr val="00B69F"/>
          </a:solidFill>
          <a:ln/>
        </p:spPr>
        <p:txBody>
          <a:bodyPr/>
          <a:lstStyle/>
          <a:p>
            <a:endParaRPr lang="en-GB"/>
          </a:p>
        </p:txBody>
      </p:sp>
      <p:sp>
        <p:nvSpPr>
          <p:cNvPr id="7" name="Text 5"/>
          <p:cNvSpPr/>
          <p:nvPr/>
        </p:nvSpPr>
        <p:spPr>
          <a:xfrm>
            <a:off x="1097280" y="1645920"/>
            <a:ext cx="5486400" cy="365760"/>
          </a:xfrm>
          <a:prstGeom prst="rect">
            <a:avLst/>
          </a:prstGeom>
          <a:noFill/>
          <a:ln/>
        </p:spPr>
        <p:txBody>
          <a:bodyPr wrap="square" lIns="0" tIns="0" rIns="0" bIns="0" rtlCol="0" anchor="ctr"/>
          <a:lstStyle/>
          <a:p>
            <a:pPr marL="0" indent="0">
              <a:buNone/>
            </a:pPr>
            <a:r>
              <a:rPr lang="en-US" sz="1600" b="1" dirty="0">
                <a:solidFill>
                  <a:srgbClr val="002747"/>
                </a:solidFill>
                <a:latin typeface="Poppins" pitchFamily="34" charset="0"/>
                <a:ea typeface="Poppins" pitchFamily="34" charset="-122"/>
                <a:cs typeface="Poppins" pitchFamily="34" charset="-120"/>
              </a:rPr>
              <a:t>Example: Chicken Breast 500g</a:t>
            </a:r>
            <a:endParaRPr lang="en-US" sz="1600" dirty="0"/>
          </a:p>
        </p:txBody>
      </p:sp>
      <p:sp>
        <p:nvSpPr>
          <p:cNvPr id="8" name="Text 6"/>
          <p:cNvSpPr/>
          <p:nvPr/>
        </p:nvSpPr>
        <p:spPr>
          <a:xfrm>
            <a:off x="1097280" y="2011680"/>
            <a:ext cx="7315200" cy="274320"/>
          </a:xfrm>
          <a:prstGeom prst="rect">
            <a:avLst/>
          </a:prstGeom>
          <a:noFill/>
          <a:ln/>
        </p:spPr>
        <p:txBody>
          <a:bodyPr wrap="square" lIns="0" tIns="0" rIns="0" bIns="0" rtlCol="0" anchor="ctr"/>
          <a:lstStyle/>
          <a:p>
            <a:pPr marL="0" indent="0">
              <a:buNone/>
            </a:pPr>
            <a:r>
              <a:rPr lang="en-US" sz="1100" dirty="0">
                <a:solidFill>
                  <a:srgbClr val="6B7280"/>
                </a:solidFill>
                <a:latin typeface="Poppins" pitchFamily="34" charset="0"/>
                <a:ea typeface="Poppins" pitchFamily="34" charset="-122"/>
                <a:cs typeface="Poppins" pitchFamily="34" charset="-120"/>
              </a:rPr>
              <a:t>Chilled Proteins  |  High Risk  |  ROS 42/wk  |  £4.80</a:t>
            </a:r>
            <a:endParaRPr lang="en-US" sz="1100" dirty="0"/>
          </a:p>
        </p:txBody>
      </p:sp>
      <p:sp>
        <p:nvSpPr>
          <p:cNvPr id="9" name="Shape 7"/>
          <p:cNvSpPr/>
          <p:nvPr/>
        </p:nvSpPr>
        <p:spPr>
          <a:xfrm>
            <a:off x="1097280" y="2423160"/>
            <a:ext cx="1828800" cy="320040"/>
          </a:xfrm>
          <a:prstGeom prst="rect">
            <a:avLst/>
          </a:prstGeom>
          <a:solidFill>
            <a:srgbClr val="FFFFFF"/>
          </a:solidFill>
          <a:ln w="12700">
            <a:solidFill>
              <a:srgbClr val="0C4A7D"/>
            </a:solidFill>
            <a:prstDash val="solid"/>
          </a:ln>
        </p:spPr>
        <p:txBody>
          <a:bodyPr/>
          <a:lstStyle/>
          <a:p>
            <a:endParaRPr lang="en-GB"/>
          </a:p>
        </p:txBody>
      </p:sp>
      <p:sp>
        <p:nvSpPr>
          <p:cNvPr id="10" name="Text 8"/>
          <p:cNvSpPr/>
          <p:nvPr/>
        </p:nvSpPr>
        <p:spPr>
          <a:xfrm>
            <a:off x="1097280" y="2423160"/>
            <a:ext cx="1828800" cy="320040"/>
          </a:xfrm>
          <a:prstGeom prst="rect">
            <a:avLst/>
          </a:prstGeom>
          <a:noFill/>
          <a:ln/>
        </p:spPr>
        <p:txBody>
          <a:bodyPr wrap="square" lIns="0" tIns="0" rIns="0" bIns="0" rtlCol="0" anchor="ctr"/>
          <a:lstStyle/>
          <a:p>
            <a:pPr marL="0" indent="0" algn="ctr">
              <a:buNone/>
            </a:pPr>
            <a:r>
              <a:rPr lang="en-US" sz="950" b="1" dirty="0">
                <a:solidFill>
                  <a:srgbClr val="0C4A7D"/>
                </a:solidFill>
                <a:latin typeface="Poppins" pitchFamily="34" charset="0"/>
                <a:ea typeface="Poppins" pitchFamily="34" charset="-122"/>
                <a:cs typeface="Poppins" pitchFamily="34" charset="-120"/>
              </a:rPr>
              <a:t>Risk: High</a:t>
            </a:r>
            <a:endParaRPr lang="en-US" sz="950" dirty="0"/>
          </a:p>
        </p:txBody>
      </p:sp>
      <p:sp>
        <p:nvSpPr>
          <p:cNvPr id="11" name="Shape 9"/>
          <p:cNvSpPr/>
          <p:nvPr/>
        </p:nvSpPr>
        <p:spPr>
          <a:xfrm>
            <a:off x="3108960" y="2423160"/>
            <a:ext cx="1828800" cy="320040"/>
          </a:xfrm>
          <a:prstGeom prst="rect">
            <a:avLst/>
          </a:prstGeom>
          <a:solidFill>
            <a:srgbClr val="FFFFFF"/>
          </a:solidFill>
          <a:ln w="12700">
            <a:solidFill>
              <a:srgbClr val="0C4A7D"/>
            </a:solidFill>
            <a:prstDash val="solid"/>
          </a:ln>
        </p:spPr>
        <p:txBody>
          <a:bodyPr/>
          <a:lstStyle/>
          <a:p>
            <a:endParaRPr lang="en-GB"/>
          </a:p>
        </p:txBody>
      </p:sp>
      <p:sp>
        <p:nvSpPr>
          <p:cNvPr id="12" name="Text 10"/>
          <p:cNvSpPr/>
          <p:nvPr/>
        </p:nvSpPr>
        <p:spPr>
          <a:xfrm>
            <a:off x="3108960" y="2423160"/>
            <a:ext cx="1828800" cy="320040"/>
          </a:xfrm>
          <a:prstGeom prst="rect">
            <a:avLst/>
          </a:prstGeom>
          <a:noFill/>
          <a:ln/>
        </p:spPr>
        <p:txBody>
          <a:bodyPr wrap="square" lIns="0" tIns="0" rIns="0" bIns="0" rtlCol="0" anchor="ctr"/>
          <a:lstStyle/>
          <a:p>
            <a:pPr marL="0" indent="0" algn="ctr">
              <a:buNone/>
            </a:pPr>
            <a:r>
              <a:rPr lang="en-US" sz="950" b="1" dirty="0">
                <a:solidFill>
                  <a:srgbClr val="0C4A7D"/>
                </a:solidFill>
                <a:latin typeface="Poppins" pitchFamily="34" charset="0"/>
                <a:ea typeface="Poppins" pitchFamily="34" charset="-122"/>
                <a:cs typeface="Poppins" pitchFamily="34" charset="-120"/>
              </a:rPr>
              <a:t>Item value: £4.80</a:t>
            </a:r>
            <a:endParaRPr lang="en-US" sz="950" dirty="0"/>
          </a:p>
        </p:txBody>
      </p:sp>
      <p:sp>
        <p:nvSpPr>
          <p:cNvPr id="13" name="Shape 11"/>
          <p:cNvSpPr/>
          <p:nvPr/>
        </p:nvSpPr>
        <p:spPr>
          <a:xfrm>
            <a:off x="5120640" y="2423160"/>
            <a:ext cx="1828800" cy="320040"/>
          </a:xfrm>
          <a:prstGeom prst="rect">
            <a:avLst/>
          </a:prstGeom>
          <a:solidFill>
            <a:srgbClr val="FFFFFF"/>
          </a:solidFill>
          <a:ln w="12700">
            <a:solidFill>
              <a:srgbClr val="0C4A7D"/>
            </a:solidFill>
            <a:prstDash val="solid"/>
          </a:ln>
        </p:spPr>
        <p:txBody>
          <a:bodyPr/>
          <a:lstStyle/>
          <a:p>
            <a:endParaRPr lang="en-GB"/>
          </a:p>
        </p:txBody>
      </p:sp>
      <p:sp>
        <p:nvSpPr>
          <p:cNvPr id="14" name="Text 12"/>
          <p:cNvSpPr/>
          <p:nvPr/>
        </p:nvSpPr>
        <p:spPr>
          <a:xfrm>
            <a:off x="5120640" y="2423160"/>
            <a:ext cx="1828800" cy="320040"/>
          </a:xfrm>
          <a:prstGeom prst="rect">
            <a:avLst/>
          </a:prstGeom>
          <a:noFill/>
          <a:ln/>
        </p:spPr>
        <p:txBody>
          <a:bodyPr wrap="square" lIns="0" tIns="0" rIns="0" bIns="0" rtlCol="0" anchor="ctr"/>
          <a:lstStyle/>
          <a:p>
            <a:pPr marL="0" indent="0" algn="ctr">
              <a:buNone/>
            </a:pPr>
            <a:r>
              <a:rPr lang="en-US" sz="950" b="1" dirty="0">
                <a:solidFill>
                  <a:srgbClr val="0C4A7D"/>
                </a:solidFill>
                <a:latin typeface="Poppins" pitchFamily="34" charset="0"/>
                <a:ea typeface="Poppins" pitchFamily="34" charset="-122"/>
                <a:cs typeface="Poppins" pitchFamily="34" charset="-120"/>
              </a:rPr>
              <a:t>Rate of sale: 42/wk</a:t>
            </a:r>
            <a:endParaRPr lang="en-US" sz="950" dirty="0"/>
          </a:p>
        </p:txBody>
      </p:sp>
      <p:sp>
        <p:nvSpPr>
          <p:cNvPr id="15" name="Shape 13"/>
          <p:cNvSpPr/>
          <p:nvPr/>
        </p:nvSpPr>
        <p:spPr>
          <a:xfrm>
            <a:off x="7132320" y="2423160"/>
            <a:ext cx="1828800" cy="320040"/>
          </a:xfrm>
          <a:prstGeom prst="rect">
            <a:avLst/>
          </a:prstGeom>
          <a:solidFill>
            <a:srgbClr val="FFFFFF"/>
          </a:solidFill>
          <a:ln w="12700">
            <a:solidFill>
              <a:srgbClr val="6FB4E3"/>
            </a:solidFill>
            <a:prstDash val="solid"/>
          </a:ln>
        </p:spPr>
        <p:txBody>
          <a:bodyPr/>
          <a:lstStyle/>
          <a:p>
            <a:endParaRPr lang="en-GB"/>
          </a:p>
        </p:txBody>
      </p:sp>
      <p:sp>
        <p:nvSpPr>
          <p:cNvPr id="16" name="Text 14"/>
          <p:cNvSpPr/>
          <p:nvPr/>
        </p:nvSpPr>
        <p:spPr>
          <a:xfrm>
            <a:off x="7132320" y="2423160"/>
            <a:ext cx="1828800" cy="320040"/>
          </a:xfrm>
          <a:prstGeom prst="rect">
            <a:avLst/>
          </a:prstGeom>
          <a:noFill/>
          <a:ln/>
        </p:spPr>
        <p:txBody>
          <a:bodyPr wrap="square" lIns="0" tIns="0" rIns="0" bIns="0" rtlCol="0" anchor="ctr"/>
          <a:lstStyle/>
          <a:p>
            <a:pPr marL="0" indent="0" algn="ctr">
              <a:buNone/>
            </a:pPr>
            <a:r>
              <a:rPr lang="en-US" sz="950" b="1" dirty="0">
                <a:solidFill>
                  <a:srgbClr val="6FB4E3"/>
                </a:solidFill>
                <a:latin typeface="Poppins" pitchFamily="34" charset="0"/>
                <a:ea typeface="Poppins" pitchFamily="34" charset="-122"/>
                <a:cs typeface="Poppins" pitchFamily="34" charset="-120"/>
              </a:rPr>
              <a:t>Last counted: 6d ago</a:t>
            </a:r>
            <a:endParaRPr lang="en-US" sz="950" dirty="0"/>
          </a:p>
        </p:txBody>
      </p:sp>
      <p:sp>
        <p:nvSpPr>
          <p:cNvPr id="17" name="Shape 15"/>
          <p:cNvSpPr/>
          <p:nvPr/>
        </p:nvSpPr>
        <p:spPr>
          <a:xfrm>
            <a:off x="9144000" y="2423160"/>
            <a:ext cx="1828800" cy="320040"/>
          </a:xfrm>
          <a:prstGeom prst="rect">
            <a:avLst/>
          </a:prstGeom>
          <a:solidFill>
            <a:srgbClr val="FFFFFF"/>
          </a:solidFill>
          <a:ln w="12700">
            <a:solidFill>
              <a:srgbClr val="00B69F"/>
            </a:solidFill>
            <a:prstDash val="solid"/>
          </a:ln>
        </p:spPr>
        <p:txBody>
          <a:bodyPr/>
          <a:lstStyle/>
          <a:p>
            <a:endParaRPr lang="en-GB"/>
          </a:p>
        </p:txBody>
      </p:sp>
      <p:sp>
        <p:nvSpPr>
          <p:cNvPr id="18" name="Text 16"/>
          <p:cNvSpPr/>
          <p:nvPr/>
        </p:nvSpPr>
        <p:spPr>
          <a:xfrm>
            <a:off x="9144000" y="2423160"/>
            <a:ext cx="1828800" cy="320040"/>
          </a:xfrm>
          <a:prstGeom prst="rect">
            <a:avLst/>
          </a:prstGeom>
          <a:noFill/>
          <a:ln/>
        </p:spPr>
        <p:txBody>
          <a:bodyPr wrap="square" lIns="0" tIns="0" rIns="0" bIns="0" rtlCol="0" anchor="ctr"/>
          <a:lstStyle/>
          <a:p>
            <a:pPr marL="0" indent="0" algn="ctr">
              <a:buNone/>
            </a:pPr>
            <a:r>
              <a:rPr lang="en-US" sz="950" b="1" dirty="0">
                <a:solidFill>
                  <a:srgbClr val="00B69F"/>
                </a:solidFill>
                <a:latin typeface="Poppins" pitchFamily="34" charset="0"/>
                <a:ea typeface="Poppins" pitchFamily="34" charset="-122"/>
                <a:cs typeface="Poppins" pitchFamily="34" charset="-120"/>
              </a:rPr>
              <a:t>On promotion</a:t>
            </a:r>
            <a:endParaRPr lang="en-US" sz="950" dirty="0"/>
          </a:p>
        </p:txBody>
      </p:sp>
      <p:sp>
        <p:nvSpPr>
          <p:cNvPr id="19" name="Text 17"/>
          <p:cNvSpPr/>
          <p:nvPr/>
        </p:nvSpPr>
        <p:spPr>
          <a:xfrm>
            <a:off x="1097280" y="2926080"/>
            <a:ext cx="9144000" cy="274320"/>
          </a:xfrm>
          <a:prstGeom prst="rect">
            <a:avLst/>
          </a:prstGeom>
          <a:noFill/>
          <a:ln/>
        </p:spPr>
        <p:txBody>
          <a:bodyPr wrap="square" lIns="0" tIns="0" rIns="0" bIns="0" rtlCol="0" anchor="ctr"/>
          <a:lstStyle/>
          <a:p>
            <a:pPr marL="0" indent="0">
              <a:buNone/>
            </a:pPr>
            <a:r>
              <a:rPr lang="en-US" sz="1100" b="1" dirty="0">
                <a:solidFill>
                  <a:srgbClr val="002747"/>
                </a:solidFill>
                <a:latin typeface="Poppins" pitchFamily="34" charset="0"/>
                <a:ea typeface="Poppins" pitchFamily="34" charset="-122"/>
                <a:cs typeface="Poppins" pitchFamily="34" charset="-120"/>
              </a:rPr>
              <a:t>Variance: 100 expected − 88 counted = 12 units (12%) × £4.80 = £58 exposure</a:t>
            </a:r>
            <a:endParaRPr lang="en-US" sz="1100" dirty="0"/>
          </a:p>
        </p:txBody>
      </p:sp>
      <p:sp>
        <p:nvSpPr>
          <p:cNvPr id="20" name="Text 18"/>
          <p:cNvSpPr/>
          <p:nvPr/>
        </p:nvSpPr>
        <p:spPr>
          <a:xfrm>
            <a:off x="1097280" y="3246120"/>
            <a:ext cx="9144000" cy="228600"/>
          </a:xfrm>
          <a:prstGeom prst="rect">
            <a:avLst/>
          </a:prstGeom>
          <a:noFill/>
          <a:ln/>
        </p:spPr>
        <p:txBody>
          <a:bodyPr wrap="square" lIns="0" tIns="0" rIns="0" bIns="0" rtlCol="0" anchor="ctr"/>
          <a:lstStyle/>
          <a:p>
            <a:pPr marL="0" indent="0">
              <a:buNone/>
            </a:pPr>
            <a:r>
              <a:rPr lang="en-US" sz="1100" dirty="0">
                <a:solidFill>
                  <a:srgbClr val="00B69F"/>
                </a:solidFill>
                <a:latin typeface="Poppins" pitchFamily="34" charset="0"/>
                <a:ea typeface="Poppins" pitchFamily="34" charset="-122"/>
                <a:cs typeface="Poppins" pitchFamily="34" charset="-120"/>
              </a:rPr>
              <a:t>Outcome: Corrected. Stock position adjusted.</a:t>
            </a:r>
            <a:endParaRPr lang="en-US" sz="1100" dirty="0"/>
          </a:p>
        </p:txBody>
      </p:sp>
      <p:sp>
        <p:nvSpPr>
          <p:cNvPr id="21" name="Shape 19"/>
          <p:cNvSpPr/>
          <p:nvPr/>
        </p:nvSpPr>
        <p:spPr>
          <a:xfrm>
            <a:off x="731520" y="4114800"/>
            <a:ext cx="10698480" cy="1554480"/>
          </a:xfrm>
          <a:prstGeom prst="rect">
            <a:avLst/>
          </a:prstGeom>
          <a:solidFill>
            <a:srgbClr val="002747"/>
          </a:solidFill>
          <a:ln/>
        </p:spPr>
        <p:txBody>
          <a:bodyPr/>
          <a:lstStyle/>
          <a:p>
            <a:endParaRPr lang="en-GB"/>
          </a:p>
        </p:txBody>
      </p:sp>
      <p:sp>
        <p:nvSpPr>
          <p:cNvPr id="22" name="Text 20"/>
          <p:cNvSpPr/>
          <p:nvPr/>
        </p:nvSpPr>
        <p:spPr>
          <a:xfrm>
            <a:off x="1097280" y="4206240"/>
            <a:ext cx="3657600" cy="320040"/>
          </a:xfrm>
          <a:prstGeom prst="rect">
            <a:avLst/>
          </a:prstGeom>
          <a:noFill/>
          <a:ln/>
        </p:spPr>
        <p:txBody>
          <a:bodyPr wrap="square" lIns="0" tIns="0" rIns="0" bIns="0" rtlCol="0" anchor="ctr"/>
          <a:lstStyle/>
          <a:p>
            <a:pPr marL="0" indent="0">
              <a:buNone/>
            </a:pPr>
            <a:r>
              <a:rPr lang="en-US" sz="1400" b="1" dirty="0">
                <a:solidFill>
                  <a:srgbClr val="00B69F"/>
                </a:solidFill>
                <a:latin typeface="Poppins" pitchFamily="34" charset="0"/>
                <a:ea typeface="Poppins" pitchFamily="34" charset="-122"/>
                <a:cs typeface="Poppins" pitchFamily="34" charset="-120"/>
              </a:rPr>
              <a:t>Why This Matters</a:t>
            </a:r>
            <a:endParaRPr lang="en-US" sz="1400" dirty="0"/>
          </a:p>
        </p:txBody>
      </p:sp>
      <p:sp>
        <p:nvSpPr>
          <p:cNvPr id="23" name="Text 21"/>
          <p:cNvSpPr/>
          <p:nvPr/>
        </p:nvSpPr>
        <p:spPr>
          <a:xfrm>
            <a:off x="1097280" y="4617720"/>
            <a:ext cx="9601200" cy="914400"/>
          </a:xfrm>
          <a:prstGeom prst="rect">
            <a:avLst/>
          </a:prstGeom>
          <a:noFill/>
          <a:ln/>
        </p:spPr>
        <p:txBody>
          <a:bodyPr wrap="square" rtlCol="0" anchor="ctr"/>
          <a:lstStyle/>
          <a:p>
            <a:pPr marL="342900" indent="-342900">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Operators who understand why they are counting something are more likely to do it accurately</a:t>
            </a:r>
            <a:endParaRPr lang="en-US" sz="1050" dirty="0"/>
          </a:p>
          <a:p>
            <a:pPr marL="342900" indent="-342900">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Managers can verify the system is making sensible decisions without checking every item</a:t>
            </a:r>
            <a:endParaRPr lang="en-US" sz="1050" dirty="0"/>
          </a:p>
          <a:p>
            <a:pPr marL="342900" indent="-342900">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When variance is shown as currency, the business impact is immediately clear</a:t>
            </a:r>
            <a:endParaRPr lang="en-US" sz="1050" dirty="0"/>
          </a:p>
          <a:p>
            <a:pPr marL="342900" indent="-342900">
              <a:spcAft>
                <a:spcPts val="300"/>
              </a:spcAft>
              <a:buSzPct val="100000"/>
              <a:buChar char="•"/>
            </a:pPr>
            <a:r>
              <a:rPr lang="en-US" sz="1050" dirty="0">
                <a:solidFill>
                  <a:srgbClr val="FFFFFF"/>
                </a:solidFill>
                <a:latin typeface="Poppins" pitchFamily="34" charset="0"/>
                <a:ea typeface="Poppins" pitchFamily="34" charset="-122"/>
                <a:cs typeface="Poppins" pitchFamily="34" charset="-120"/>
              </a:rPr>
              <a:t>If the system flags something questionable, operators can see the reasoning and challenge it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64008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You Control the Rules</a:t>
            </a:r>
            <a:endParaRPr lang="en-US" sz="2800" dirty="0"/>
          </a:p>
        </p:txBody>
      </p:sp>
      <p:sp>
        <p:nvSpPr>
          <p:cNvPr id="4" name="Text 2"/>
          <p:cNvSpPr/>
          <p:nvPr/>
        </p:nvSpPr>
        <p:spPr>
          <a:xfrm>
            <a:off x="731520" y="960120"/>
            <a:ext cx="9144000" cy="320040"/>
          </a:xfrm>
          <a:prstGeom prst="rect">
            <a:avLst/>
          </a:prstGeom>
          <a:noFill/>
          <a:ln/>
        </p:spPr>
        <p:txBody>
          <a:bodyPr wrap="square" lIns="0" tIns="0" rIns="0" bIns="0" rtlCol="0" anchor="ctr"/>
          <a:lstStyle/>
          <a:p>
            <a:pPr marL="0" indent="0">
              <a:buNone/>
            </a:pPr>
            <a:r>
              <a:rPr lang="en-US" sz="1300" dirty="0">
                <a:solidFill>
                  <a:srgbClr val="0C4A7D"/>
                </a:solidFill>
                <a:latin typeface="Poppins" pitchFamily="34" charset="0"/>
                <a:ea typeface="Poppins" pitchFamily="34" charset="-122"/>
                <a:cs typeface="Poppins" pitchFamily="34" charset="-120"/>
              </a:rPr>
              <a:t>The system works to your standards, not a default. Here is what you can configure.</a:t>
            </a:r>
            <a:endParaRPr lang="en-US" sz="1300" dirty="0"/>
          </a:p>
        </p:txBody>
      </p:sp>
      <p:sp>
        <p:nvSpPr>
          <p:cNvPr id="5" name="Shape 3"/>
          <p:cNvSpPr/>
          <p:nvPr/>
        </p:nvSpPr>
        <p:spPr>
          <a:xfrm>
            <a:off x="731520" y="1463040"/>
            <a:ext cx="530352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731520" y="1463040"/>
            <a:ext cx="64008" cy="1005840"/>
          </a:xfrm>
          <a:prstGeom prst="rect">
            <a:avLst/>
          </a:prstGeom>
          <a:solidFill>
            <a:srgbClr val="00B69F"/>
          </a:solidFill>
          <a:ln/>
        </p:spPr>
        <p:txBody>
          <a:bodyPr/>
          <a:lstStyle/>
          <a:p>
            <a:endParaRPr lang="en-GB"/>
          </a:p>
        </p:txBody>
      </p:sp>
      <p:sp>
        <p:nvSpPr>
          <p:cNvPr id="7" name="Text 5"/>
          <p:cNvSpPr/>
          <p:nvPr/>
        </p:nvSpPr>
        <p:spPr>
          <a:xfrm>
            <a:off x="1005840" y="1554480"/>
            <a:ext cx="4754880" cy="27432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Categories</a:t>
            </a:r>
            <a:endParaRPr lang="en-US" sz="1400" dirty="0"/>
          </a:p>
        </p:txBody>
      </p:sp>
      <p:sp>
        <p:nvSpPr>
          <p:cNvPr id="8" name="Text 6"/>
          <p:cNvSpPr/>
          <p:nvPr/>
        </p:nvSpPr>
        <p:spPr>
          <a:xfrm>
            <a:off x="1005840" y="1874520"/>
            <a:ext cx="4754880" cy="5029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Toggle which product categories are included in AI checks. Chilled and bakery might be active while ambient stays off.</a:t>
            </a:r>
            <a:endParaRPr lang="en-US" sz="1050" dirty="0"/>
          </a:p>
        </p:txBody>
      </p:sp>
      <p:sp>
        <p:nvSpPr>
          <p:cNvPr id="9" name="Shape 7"/>
          <p:cNvSpPr/>
          <p:nvPr/>
        </p:nvSpPr>
        <p:spPr>
          <a:xfrm>
            <a:off x="6309360" y="1463040"/>
            <a:ext cx="530352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0" name="Shape 8"/>
          <p:cNvSpPr/>
          <p:nvPr/>
        </p:nvSpPr>
        <p:spPr>
          <a:xfrm>
            <a:off x="6309360" y="1463040"/>
            <a:ext cx="64008" cy="1005840"/>
          </a:xfrm>
          <a:prstGeom prst="rect">
            <a:avLst/>
          </a:prstGeom>
          <a:solidFill>
            <a:srgbClr val="00B69F"/>
          </a:solidFill>
          <a:ln/>
        </p:spPr>
        <p:txBody>
          <a:bodyPr/>
          <a:lstStyle/>
          <a:p>
            <a:endParaRPr lang="en-GB"/>
          </a:p>
        </p:txBody>
      </p:sp>
      <p:sp>
        <p:nvSpPr>
          <p:cNvPr id="11" name="Text 9"/>
          <p:cNvSpPr/>
          <p:nvPr/>
        </p:nvSpPr>
        <p:spPr>
          <a:xfrm>
            <a:off x="6583680" y="1554480"/>
            <a:ext cx="4754880" cy="27432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Risk Levels</a:t>
            </a:r>
            <a:endParaRPr lang="en-US" sz="1400" dirty="0"/>
          </a:p>
        </p:txBody>
      </p:sp>
      <p:sp>
        <p:nvSpPr>
          <p:cNvPr id="12" name="Text 10"/>
          <p:cNvSpPr/>
          <p:nvPr/>
        </p:nvSpPr>
        <p:spPr>
          <a:xfrm>
            <a:off x="6583680" y="1874520"/>
            <a:ext cx="4754880" cy="5029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Choose which risk levels trigger checks per category. High only, High + Medium, or all three.</a:t>
            </a:r>
            <a:endParaRPr lang="en-US" sz="1050" dirty="0"/>
          </a:p>
        </p:txBody>
      </p:sp>
      <p:sp>
        <p:nvSpPr>
          <p:cNvPr id="13" name="Shape 11"/>
          <p:cNvSpPr/>
          <p:nvPr/>
        </p:nvSpPr>
        <p:spPr>
          <a:xfrm>
            <a:off x="731520" y="2697480"/>
            <a:ext cx="530352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4" name="Shape 12"/>
          <p:cNvSpPr/>
          <p:nvPr/>
        </p:nvSpPr>
        <p:spPr>
          <a:xfrm>
            <a:off x="731520" y="2697480"/>
            <a:ext cx="64008" cy="1005840"/>
          </a:xfrm>
          <a:prstGeom prst="rect">
            <a:avLst/>
          </a:prstGeom>
          <a:solidFill>
            <a:srgbClr val="00B69F"/>
          </a:solidFill>
          <a:ln/>
        </p:spPr>
        <p:txBody>
          <a:bodyPr/>
          <a:lstStyle/>
          <a:p>
            <a:endParaRPr lang="en-GB"/>
          </a:p>
        </p:txBody>
      </p:sp>
      <p:sp>
        <p:nvSpPr>
          <p:cNvPr id="15" name="Text 13"/>
          <p:cNvSpPr/>
          <p:nvPr/>
        </p:nvSpPr>
        <p:spPr>
          <a:xfrm>
            <a:off x="1005840" y="2788920"/>
            <a:ext cx="4754880" cy="27432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Value Threshold</a:t>
            </a:r>
            <a:endParaRPr lang="en-US" sz="1400" dirty="0"/>
          </a:p>
        </p:txBody>
      </p:sp>
      <p:sp>
        <p:nvSpPr>
          <p:cNvPr id="16" name="Text 14"/>
          <p:cNvSpPr/>
          <p:nvPr/>
        </p:nvSpPr>
        <p:spPr>
          <a:xfrm>
            <a:off x="1005840" y="3108960"/>
            <a:ext cx="4754880" cy="5029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Set a minimum item value. Below this, items are not flagged regardless of risk.</a:t>
            </a:r>
            <a:endParaRPr lang="en-US" sz="1050" dirty="0"/>
          </a:p>
        </p:txBody>
      </p:sp>
      <p:sp>
        <p:nvSpPr>
          <p:cNvPr id="17" name="Shape 15"/>
          <p:cNvSpPr/>
          <p:nvPr/>
        </p:nvSpPr>
        <p:spPr>
          <a:xfrm>
            <a:off x="6309360" y="2697480"/>
            <a:ext cx="530352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8" name="Shape 16"/>
          <p:cNvSpPr/>
          <p:nvPr/>
        </p:nvSpPr>
        <p:spPr>
          <a:xfrm>
            <a:off x="6309360" y="2697480"/>
            <a:ext cx="64008" cy="1005840"/>
          </a:xfrm>
          <a:prstGeom prst="rect">
            <a:avLst/>
          </a:prstGeom>
          <a:solidFill>
            <a:srgbClr val="00B69F"/>
          </a:solidFill>
          <a:ln/>
        </p:spPr>
        <p:txBody>
          <a:bodyPr/>
          <a:lstStyle/>
          <a:p>
            <a:endParaRPr lang="en-GB"/>
          </a:p>
        </p:txBody>
      </p:sp>
      <p:sp>
        <p:nvSpPr>
          <p:cNvPr id="19" name="Text 17"/>
          <p:cNvSpPr/>
          <p:nvPr/>
        </p:nvSpPr>
        <p:spPr>
          <a:xfrm>
            <a:off x="6583680" y="2788920"/>
            <a:ext cx="4754880" cy="27432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Rate of Sale</a:t>
            </a:r>
            <a:endParaRPr lang="en-US" sz="1400" dirty="0"/>
          </a:p>
        </p:txBody>
      </p:sp>
      <p:sp>
        <p:nvSpPr>
          <p:cNvPr id="20" name="Text 18"/>
          <p:cNvSpPr/>
          <p:nvPr/>
        </p:nvSpPr>
        <p:spPr>
          <a:xfrm>
            <a:off x="6583680" y="3108960"/>
            <a:ext cx="4754880" cy="5029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Set a minimum ROS. Low-selling items that rarely move can be excluded.</a:t>
            </a:r>
            <a:endParaRPr lang="en-US" sz="1050" dirty="0"/>
          </a:p>
        </p:txBody>
      </p:sp>
      <p:sp>
        <p:nvSpPr>
          <p:cNvPr id="21" name="Shape 19"/>
          <p:cNvSpPr/>
          <p:nvPr/>
        </p:nvSpPr>
        <p:spPr>
          <a:xfrm>
            <a:off x="731520" y="3931920"/>
            <a:ext cx="530352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22" name="Shape 20"/>
          <p:cNvSpPr/>
          <p:nvPr/>
        </p:nvSpPr>
        <p:spPr>
          <a:xfrm>
            <a:off x="731520" y="3931920"/>
            <a:ext cx="64008" cy="1005840"/>
          </a:xfrm>
          <a:prstGeom prst="rect">
            <a:avLst/>
          </a:prstGeom>
          <a:solidFill>
            <a:srgbClr val="00B69F"/>
          </a:solidFill>
          <a:ln/>
        </p:spPr>
        <p:txBody>
          <a:bodyPr/>
          <a:lstStyle/>
          <a:p>
            <a:endParaRPr lang="en-GB"/>
          </a:p>
        </p:txBody>
      </p:sp>
      <p:sp>
        <p:nvSpPr>
          <p:cNvPr id="23" name="Text 21"/>
          <p:cNvSpPr/>
          <p:nvPr/>
        </p:nvSpPr>
        <p:spPr>
          <a:xfrm>
            <a:off x="1005840" y="4023360"/>
            <a:ext cx="4754880" cy="27432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Count Frequency</a:t>
            </a:r>
            <a:endParaRPr lang="en-US" sz="1400" dirty="0"/>
          </a:p>
        </p:txBody>
      </p:sp>
      <p:sp>
        <p:nvSpPr>
          <p:cNvPr id="24" name="Text 22"/>
          <p:cNvSpPr/>
          <p:nvPr/>
        </p:nvSpPr>
        <p:spPr>
          <a:xfrm>
            <a:off x="1005840" y="4343400"/>
            <a:ext cx="4754880" cy="5029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Set maximum days between counts per category. Chilled might be every 3 days, frozen every 7.</a:t>
            </a:r>
            <a:endParaRPr lang="en-US" sz="1050" dirty="0"/>
          </a:p>
        </p:txBody>
      </p:sp>
      <p:sp>
        <p:nvSpPr>
          <p:cNvPr id="25" name="Shape 23"/>
          <p:cNvSpPr/>
          <p:nvPr/>
        </p:nvSpPr>
        <p:spPr>
          <a:xfrm>
            <a:off x="6309360" y="3931920"/>
            <a:ext cx="530352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26" name="Shape 24"/>
          <p:cNvSpPr/>
          <p:nvPr/>
        </p:nvSpPr>
        <p:spPr>
          <a:xfrm>
            <a:off x="6309360" y="3931920"/>
            <a:ext cx="64008" cy="1005840"/>
          </a:xfrm>
          <a:prstGeom prst="rect">
            <a:avLst/>
          </a:prstGeom>
          <a:solidFill>
            <a:srgbClr val="00B69F"/>
          </a:solidFill>
          <a:ln/>
        </p:spPr>
        <p:txBody>
          <a:bodyPr/>
          <a:lstStyle/>
          <a:p>
            <a:endParaRPr lang="en-GB"/>
          </a:p>
        </p:txBody>
      </p:sp>
      <p:sp>
        <p:nvSpPr>
          <p:cNvPr id="27" name="Text 25"/>
          <p:cNvSpPr/>
          <p:nvPr/>
        </p:nvSpPr>
        <p:spPr>
          <a:xfrm>
            <a:off x="6583680" y="4023360"/>
            <a:ext cx="4754880" cy="274320"/>
          </a:xfrm>
          <a:prstGeom prst="rect">
            <a:avLst/>
          </a:prstGeom>
          <a:noFill/>
          <a:ln/>
        </p:spPr>
        <p:txBody>
          <a:bodyPr wrap="square" lIns="0" tIns="0" rIns="0" bIns="0" rtlCol="0" anchor="ctr"/>
          <a:lstStyle/>
          <a:p>
            <a:pPr marL="0" indent="0">
              <a:buNone/>
            </a:pPr>
            <a:r>
              <a:rPr lang="en-US" sz="1400" b="1" dirty="0">
                <a:solidFill>
                  <a:srgbClr val="002747"/>
                </a:solidFill>
                <a:latin typeface="Poppins" pitchFamily="34" charset="0"/>
                <a:ea typeface="Poppins" pitchFamily="34" charset="-122"/>
                <a:cs typeface="Poppins" pitchFamily="34" charset="-120"/>
              </a:rPr>
              <a:t>Custom Overrides</a:t>
            </a:r>
            <a:endParaRPr lang="en-US" sz="1400" dirty="0"/>
          </a:p>
        </p:txBody>
      </p:sp>
      <p:sp>
        <p:nvSpPr>
          <p:cNvPr id="28" name="Text 26"/>
          <p:cNvSpPr/>
          <p:nvPr/>
        </p:nvSpPr>
        <p:spPr>
          <a:xfrm>
            <a:off x="6583680" y="4343400"/>
            <a:ext cx="4754880" cy="5029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Create named rules: 'Always flag promo items' or 'Never flag low-ROS ambient.' Overrides take precedence.</a:t>
            </a:r>
            <a:endParaRPr lang="en-US" sz="1050" dirty="0"/>
          </a:p>
        </p:txBody>
      </p:sp>
      <p:sp>
        <p:nvSpPr>
          <p:cNvPr id="29" name="Shape 27"/>
          <p:cNvSpPr/>
          <p:nvPr/>
        </p:nvSpPr>
        <p:spPr>
          <a:xfrm>
            <a:off x="731520" y="5212080"/>
            <a:ext cx="10698480" cy="777240"/>
          </a:xfrm>
          <a:prstGeom prst="rect">
            <a:avLst/>
          </a:prstGeom>
          <a:solidFill>
            <a:srgbClr val="002747"/>
          </a:solidFill>
          <a:ln/>
        </p:spPr>
        <p:txBody>
          <a:bodyPr/>
          <a:lstStyle/>
          <a:p>
            <a:endParaRPr lang="en-GB"/>
          </a:p>
        </p:txBody>
      </p:sp>
      <p:sp>
        <p:nvSpPr>
          <p:cNvPr id="30" name="Text 28"/>
          <p:cNvSpPr/>
          <p:nvPr/>
        </p:nvSpPr>
        <p:spPr>
          <a:xfrm>
            <a:off x="1097280" y="5303520"/>
            <a:ext cx="9601200" cy="502920"/>
          </a:xfrm>
          <a:prstGeom prst="rect">
            <a:avLst/>
          </a:prstGeom>
          <a:noFill/>
          <a:ln/>
        </p:spPr>
        <p:txBody>
          <a:bodyPr wrap="square" lIns="0" tIns="0" rIns="0" bIns="0" rtlCol="0" anchor="ctr"/>
          <a:lstStyle/>
          <a:p>
            <a:pPr marL="0" indent="0">
              <a:buNone/>
            </a:pPr>
            <a:r>
              <a:rPr lang="en-US" sz="1200" dirty="0">
                <a:solidFill>
                  <a:srgbClr val="FFFFFF"/>
                </a:solidFill>
                <a:latin typeface="Poppins" pitchFamily="34" charset="0"/>
                <a:ea typeface="Poppins" pitchFamily="34" charset="-122"/>
                <a:cs typeface="Poppins" pitchFamily="34" charset="-120"/>
              </a:rPr>
              <a:t>A live preview shows exactly which items would be affected before you apply any change. Nothing changes until you confirm.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64008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Expected Impact</a:t>
            </a:r>
            <a:endParaRPr lang="en-US" sz="2800" dirty="0"/>
          </a:p>
        </p:txBody>
      </p:sp>
      <p:sp>
        <p:nvSpPr>
          <p:cNvPr id="4" name="Shape 2"/>
          <p:cNvSpPr/>
          <p:nvPr/>
        </p:nvSpPr>
        <p:spPr>
          <a:xfrm>
            <a:off x="731520" y="1188720"/>
            <a:ext cx="10698480" cy="685800"/>
          </a:xfrm>
          <a:prstGeom prst="rect">
            <a:avLst/>
          </a:prstGeom>
          <a:solidFill>
            <a:srgbClr val="F5F5F5"/>
          </a:solidFill>
          <a:ln/>
        </p:spPr>
        <p:txBody>
          <a:bodyPr/>
          <a:lstStyle/>
          <a:p>
            <a:endParaRPr lang="en-GB"/>
          </a:p>
        </p:txBody>
      </p:sp>
      <p:sp>
        <p:nvSpPr>
          <p:cNvPr id="5" name="Shape 3"/>
          <p:cNvSpPr/>
          <p:nvPr/>
        </p:nvSpPr>
        <p:spPr>
          <a:xfrm>
            <a:off x="731520" y="1188720"/>
            <a:ext cx="64008" cy="685800"/>
          </a:xfrm>
          <a:prstGeom prst="rect">
            <a:avLst/>
          </a:prstGeom>
          <a:solidFill>
            <a:srgbClr val="00B69F"/>
          </a:solidFill>
          <a:ln/>
        </p:spPr>
        <p:txBody>
          <a:bodyPr/>
          <a:lstStyle/>
          <a:p>
            <a:endParaRPr lang="en-GB"/>
          </a:p>
        </p:txBody>
      </p:sp>
      <p:sp>
        <p:nvSpPr>
          <p:cNvPr id="6" name="Text 4"/>
          <p:cNvSpPr/>
          <p:nvPr/>
        </p:nvSpPr>
        <p:spPr>
          <a:xfrm>
            <a:off x="1051560" y="1234440"/>
            <a:ext cx="2286000" cy="274320"/>
          </a:xfrm>
          <a:prstGeom prst="rect">
            <a:avLst/>
          </a:prstGeom>
          <a:noFill/>
          <a:ln/>
        </p:spPr>
        <p:txBody>
          <a:bodyPr wrap="square" lIns="0" tIns="0" rIns="0" bIns="0" rtlCol="0" anchor="ctr"/>
          <a:lstStyle/>
          <a:p>
            <a:pPr marL="0" indent="0">
              <a:buNone/>
            </a:pPr>
            <a:r>
              <a:rPr lang="en-US" sz="1300" b="1" dirty="0">
                <a:solidFill>
                  <a:srgbClr val="002747"/>
                </a:solidFill>
                <a:latin typeface="Poppins" pitchFamily="34" charset="0"/>
                <a:ea typeface="Poppins" pitchFamily="34" charset="-122"/>
                <a:cs typeface="Poppins" pitchFamily="34" charset="-120"/>
              </a:rPr>
              <a:t>Counting Volume</a:t>
            </a:r>
            <a:endParaRPr lang="en-US" sz="1300" dirty="0"/>
          </a:p>
        </p:txBody>
      </p:sp>
      <p:sp>
        <p:nvSpPr>
          <p:cNvPr id="7" name="Text 5"/>
          <p:cNvSpPr/>
          <p:nvPr/>
        </p:nvSpPr>
        <p:spPr>
          <a:xfrm>
            <a:off x="3474720" y="1234440"/>
            <a:ext cx="3474720" cy="274320"/>
          </a:xfrm>
          <a:prstGeom prst="rect">
            <a:avLst/>
          </a:prstGeom>
          <a:noFill/>
          <a:ln/>
        </p:spPr>
        <p:txBody>
          <a:bodyPr wrap="square" lIns="0" tIns="0" rIns="0" bIns="0" rtlCol="0" anchor="ctr"/>
          <a:lstStyle/>
          <a:p>
            <a:pPr marL="0" indent="0">
              <a:buNone/>
            </a:pPr>
            <a:r>
              <a:rPr lang="en-US" sz="1200" b="1" dirty="0">
                <a:solidFill>
                  <a:srgbClr val="00B69F"/>
                </a:solidFill>
                <a:latin typeface="Poppins" pitchFamily="34" charset="0"/>
                <a:ea typeface="Poppins" pitchFamily="34" charset="-122"/>
                <a:cs typeface="Poppins" pitchFamily="34" charset="-120"/>
              </a:rPr>
              <a:t>30-40% fewer lines counted per period</a:t>
            </a:r>
            <a:endParaRPr lang="en-US" sz="1200" dirty="0"/>
          </a:p>
        </p:txBody>
      </p:sp>
      <p:sp>
        <p:nvSpPr>
          <p:cNvPr id="8" name="Text 6"/>
          <p:cNvSpPr/>
          <p:nvPr/>
        </p:nvSpPr>
        <p:spPr>
          <a:xfrm>
            <a:off x="1051560" y="1536192"/>
            <a:ext cx="9601200" cy="2743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Same or improved stock accuracy with significantly less effort</a:t>
            </a:r>
            <a:endParaRPr lang="en-US" sz="1050" dirty="0"/>
          </a:p>
        </p:txBody>
      </p:sp>
      <p:sp>
        <p:nvSpPr>
          <p:cNvPr id="9" name="Shape 7"/>
          <p:cNvSpPr/>
          <p:nvPr/>
        </p:nvSpPr>
        <p:spPr>
          <a:xfrm>
            <a:off x="731520" y="2057400"/>
            <a:ext cx="10698480" cy="685800"/>
          </a:xfrm>
          <a:prstGeom prst="rect">
            <a:avLst/>
          </a:prstGeom>
          <a:solidFill>
            <a:srgbClr val="FFFFFF"/>
          </a:solidFill>
          <a:ln/>
        </p:spPr>
        <p:txBody>
          <a:bodyPr/>
          <a:lstStyle/>
          <a:p>
            <a:endParaRPr lang="en-GB"/>
          </a:p>
        </p:txBody>
      </p:sp>
      <p:sp>
        <p:nvSpPr>
          <p:cNvPr id="10" name="Shape 8"/>
          <p:cNvSpPr/>
          <p:nvPr/>
        </p:nvSpPr>
        <p:spPr>
          <a:xfrm>
            <a:off x="731520" y="2057400"/>
            <a:ext cx="64008" cy="685800"/>
          </a:xfrm>
          <a:prstGeom prst="rect">
            <a:avLst/>
          </a:prstGeom>
          <a:solidFill>
            <a:srgbClr val="6FB4E3"/>
          </a:solidFill>
          <a:ln/>
        </p:spPr>
        <p:txBody>
          <a:bodyPr/>
          <a:lstStyle/>
          <a:p>
            <a:endParaRPr lang="en-GB"/>
          </a:p>
        </p:txBody>
      </p:sp>
      <p:sp>
        <p:nvSpPr>
          <p:cNvPr id="11" name="Text 9"/>
          <p:cNvSpPr/>
          <p:nvPr/>
        </p:nvSpPr>
        <p:spPr>
          <a:xfrm>
            <a:off x="1051560" y="2103120"/>
            <a:ext cx="2286000" cy="274320"/>
          </a:xfrm>
          <a:prstGeom prst="rect">
            <a:avLst/>
          </a:prstGeom>
          <a:noFill/>
          <a:ln/>
        </p:spPr>
        <p:txBody>
          <a:bodyPr wrap="square" lIns="0" tIns="0" rIns="0" bIns="0" rtlCol="0" anchor="ctr"/>
          <a:lstStyle/>
          <a:p>
            <a:pPr marL="0" indent="0">
              <a:buNone/>
            </a:pPr>
            <a:r>
              <a:rPr lang="en-US" sz="1300" b="1" dirty="0">
                <a:solidFill>
                  <a:srgbClr val="002747"/>
                </a:solidFill>
                <a:latin typeface="Poppins" pitchFamily="34" charset="0"/>
                <a:ea typeface="Poppins" pitchFamily="34" charset="-122"/>
                <a:cs typeface="Poppins" pitchFamily="34" charset="-120"/>
              </a:rPr>
              <a:t>Variance Detection</a:t>
            </a:r>
            <a:endParaRPr lang="en-US" sz="1300" dirty="0"/>
          </a:p>
        </p:txBody>
      </p:sp>
      <p:sp>
        <p:nvSpPr>
          <p:cNvPr id="12" name="Text 10"/>
          <p:cNvSpPr/>
          <p:nvPr/>
        </p:nvSpPr>
        <p:spPr>
          <a:xfrm>
            <a:off x="3474720" y="2103120"/>
            <a:ext cx="3474720" cy="274320"/>
          </a:xfrm>
          <a:prstGeom prst="rect">
            <a:avLst/>
          </a:prstGeom>
          <a:noFill/>
          <a:ln/>
        </p:spPr>
        <p:txBody>
          <a:bodyPr wrap="square" lIns="0" tIns="0" rIns="0" bIns="0" rtlCol="0" anchor="ctr"/>
          <a:lstStyle/>
          <a:p>
            <a:pPr marL="0" indent="0">
              <a:buNone/>
            </a:pPr>
            <a:r>
              <a:rPr lang="en-US" sz="1200" b="1" dirty="0">
                <a:solidFill>
                  <a:srgbClr val="6FB4E3"/>
                </a:solidFill>
                <a:latin typeface="Poppins" pitchFamily="34" charset="0"/>
                <a:ea typeface="Poppins" pitchFamily="34" charset="-122"/>
                <a:cs typeface="Poppins" pitchFamily="34" charset="-120"/>
              </a:rPr>
              <a:t>Proactive, not reactive</a:t>
            </a:r>
            <a:endParaRPr lang="en-US" sz="1200" dirty="0"/>
          </a:p>
        </p:txBody>
      </p:sp>
      <p:sp>
        <p:nvSpPr>
          <p:cNvPr id="13" name="Text 11"/>
          <p:cNvSpPr/>
          <p:nvPr/>
        </p:nvSpPr>
        <p:spPr>
          <a:xfrm>
            <a:off x="1051560" y="2404872"/>
            <a:ext cx="9601200" cy="2743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High-risk items caught before they affect availability or waste</a:t>
            </a:r>
            <a:endParaRPr lang="en-US" sz="1050" dirty="0"/>
          </a:p>
        </p:txBody>
      </p:sp>
      <p:sp>
        <p:nvSpPr>
          <p:cNvPr id="14" name="Shape 12"/>
          <p:cNvSpPr/>
          <p:nvPr/>
        </p:nvSpPr>
        <p:spPr>
          <a:xfrm>
            <a:off x="731520" y="2926080"/>
            <a:ext cx="10698480" cy="685800"/>
          </a:xfrm>
          <a:prstGeom prst="rect">
            <a:avLst/>
          </a:prstGeom>
          <a:solidFill>
            <a:srgbClr val="F5F5F5"/>
          </a:solidFill>
          <a:ln/>
        </p:spPr>
        <p:txBody>
          <a:bodyPr/>
          <a:lstStyle/>
          <a:p>
            <a:endParaRPr lang="en-GB"/>
          </a:p>
        </p:txBody>
      </p:sp>
      <p:sp>
        <p:nvSpPr>
          <p:cNvPr id="15" name="Shape 13"/>
          <p:cNvSpPr/>
          <p:nvPr/>
        </p:nvSpPr>
        <p:spPr>
          <a:xfrm>
            <a:off x="731520" y="2926080"/>
            <a:ext cx="64008" cy="685800"/>
          </a:xfrm>
          <a:prstGeom prst="rect">
            <a:avLst/>
          </a:prstGeom>
          <a:solidFill>
            <a:srgbClr val="00B69F"/>
          </a:solidFill>
          <a:ln/>
        </p:spPr>
        <p:txBody>
          <a:bodyPr/>
          <a:lstStyle/>
          <a:p>
            <a:endParaRPr lang="en-GB"/>
          </a:p>
        </p:txBody>
      </p:sp>
      <p:sp>
        <p:nvSpPr>
          <p:cNvPr id="16" name="Text 14"/>
          <p:cNvSpPr/>
          <p:nvPr/>
        </p:nvSpPr>
        <p:spPr>
          <a:xfrm>
            <a:off x="1051560" y="2971800"/>
            <a:ext cx="2286000" cy="274320"/>
          </a:xfrm>
          <a:prstGeom prst="rect">
            <a:avLst/>
          </a:prstGeom>
          <a:noFill/>
          <a:ln/>
        </p:spPr>
        <p:txBody>
          <a:bodyPr wrap="square" lIns="0" tIns="0" rIns="0" bIns="0" rtlCol="0" anchor="ctr"/>
          <a:lstStyle/>
          <a:p>
            <a:pPr marL="0" indent="0">
              <a:buNone/>
            </a:pPr>
            <a:r>
              <a:rPr lang="en-US" sz="1300" b="1" dirty="0">
                <a:solidFill>
                  <a:srgbClr val="002747"/>
                </a:solidFill>
                <a:latin typeface="Poppins" pitchFamily="34" charset="0"/>
                <a:ea typeface="Poppins" pitchFamily="34" charset="-122"/>
                <a:cs typeface="Poppins" pitchFamily="34" charset="-120"/>
              </a:rPr>
              <a:t>Operator Time</a:t>
            </a:r>
            <a:endParaRPr lang="en-US" sz="1300" dirty="0"/>
          </a:p>
        </p:txBody>
      </p:sp>
      <p:sp>
        <p:nvSpPr>
          <p:cNvPr id="17" name="Text 15"/>
          <p:cNvSpPr/>
          <p:nvPr/>
        </p:nvSpPr>
        <p:spPr>
          <a:xfrm>
            <a:off x="3474720" y="2971800"/>
            <a:ext cx="3474720" cy="274320"/>
          </a:xfrm>
          <a:prstGeom prst="rect">
            <a:avLst/>
          </a:prstGeom>
          <a:noFill/>
          <a:ln/>
        </p:spPr>
        <p:txBody>
          <a:bodyPr wrap="square" lIns="0" tIns="0" rIns="0" bIns="0" rtlCol="0" anchor="ctr"/>
          <a:lstStyle/>
          <a:p>
            <a:pPr marL="0" indent="0">
              <a:buNone/>
            </a:pPr>
            <a:r>
              <a:rPr lang="en-US" sz="1200" b="1" dirty="0">
                <a:solidFill>
                  <a:srgbClr val="00B69F"/>
                </a:solidFill>
                <a:latin typeface="Poppins" pitchFamily="34" charset="0"/>
                <a:ea typeface="Poppins" pitchFamily="34" charset="-122"/>
                <a:cs typeface="Poppins" pitchFamily="34" charset="-120"/>
              </a:rPr>
              <a:t>Significant reduction in hours spent counting</a:t>
            </a:r>
            <a:endParaRPr lang="en-US" sz="1200" dirty="0"/>
          </a:p>
        </p:txBody>
      </p:sp>
      <p:sp>
        <p:nvSpPr>
          <p:cNvPr id="18" name="Text 16"/>
          <p:cNvSpPr/>
          <p:nvPr/>
        </p:nvSpPr>
        <p:spPr>
          <a:xfrm>
            <a:off x="1051560" y="3273552"/>
            <a:ext cx="9601200" cy="2743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Labour redirected to service, preparation, and higher-value tasks</a:t>
            </a:r>
            <a:endParaRPr lang="en-US" sz="1050" dirty="0"/>
          </a:p>
        </p:txBody>
      </p:sp>
      <p:sp>
        <p:nvSpPr>
          <p:cNvPr id="19" name="Shape 17"/>
          <p:cNvSpPr/>
          <p:nvPr/>
        </p:nvSpPr>
        <p:spPr>
          <a:xfrm>
            <a:off x="731520" y="3794760"/>
            <a:ext cx="10698480" cy="685800"/>
          </a:xfrm>
          <a:prstGeom prst="rect">
            <a:avLst/>
          </a:prstGeom>
          <a:solidFill>
            <a:srgbClr val="FFFFFF"/>
          </a:solidFill>
          <a:ln/>
        </p:spPr>
        <p:txBody>
          <a:bodyPr/>
          <a:lstStyle/>
          <a:p>
            <a:endParaRPr lang="en-GB"/>
          </a:p>
        </p:txBody>
      </p:sp>
      <p:sp>
        <p:nvSpPr>
          <p:cNvPr id="20" name="Shape 18"/>
          <p:cNvSpPr/>
          <p:nvPr/>
        </p:nvSpPr>
        <p:spPr>
          <a:xfrm>
            <a:off x="731520" y="3794760"/>
            <a:ext cx="64008" cy="685800"/>
          </a:xfrm>
          <a:prstGeom prst="rect">
            <a:avLst/>
          </a:prstGeom>
          <a:solidFill>
            <a:srgbClr val="0C4A7D"/>
          </a:solidFill>
          <a:ln/>
        </p:spPr>
        <p:txBody>
          <a:bodyPr/>
          <a:lstStyle/>
          <a:p>
            <a:endParaRPr lang="en-GB"/>
          </a:p>
        </p:txBody>
      </p:sp>
      <p:sp>
        <p:nvSpPr>
          <p:cNvPr id="21" name="Text 19"/>
          <p:cNvSpPr/>
          <p:nvPr/>
        </p:nvSpPr>
        <p:spPr>
          <a:xfrm>
            <a:off x="1051560" y="3840480"/>
            <a:ext cx="2286000" cy="274320"/>
          </a:xfrm>
          <a:prstGeom prst="rect">
            <a:avLst/>
          </a:prstGeom>
          <a:noFill/>
          <a:ln/>
        </p:spPr>
        <p:txBody>
          <a:bodyPr wrap="square" lIns="0" tIns="0" rIns="0" bIns="0" rtlCol="0" anchor="ctr"/>
          <a:lstStyle/>
          <a:p>
            <a:pPr marL="0" indent="0">
              <a:buNone/>
            </a:pPr>
            <a:r>
              <a:rPr lang="en-US" sz="1300" b="1" dirty="0">
                <a:solidFill>
                  <a:srgbClr val="002747"/>
                </a:solidFill>
                <a:latin typeface="Poppins" pitchFamily="34" charset="0"/>
                <a:ea typeface="Poppins" pitchFamily="34" charset="-122"/>
                <a:cs typeface="Poppins" pitchFamily="34" charset="-120"/>
              </a:rPr>
              <a:t>Financial Visibility</a:t>
            </a:r>
            <a:endParaRPr lang="en-US" sz="1300" dirty="0"/>
          </a:p>
        </p:txBody>
      </p:sp>
      <p:sp>
        <p:nvSpPr>
          <p:cNvPr id="22" name="Text 20"/>
          <p:cNvSpPr/>
          <p:nvPr/>
        </p:nvSpPr>
        <p:spPr>
          <a:xfrm>
            <a:off x="3474720" y="3840480"/>
            <a:ext cx="3474720" cy="274320"/>
          </a:xfrm>
          <a:prstGeom prst="rect">
            <a:avLst/>
          </a:prstGeom>
          <a:noFill/>
          <a:ln/>
        </p:spPr>
        <p:txBody>
          <a:bodyPr wrap="square" lIns="0" tIns="0" rIns="0" bIns="0" rtlCol="0" anchor="ctr"/>
          <a:lstStyle/>
          <a:p>
            <a:pPr marL="0" indent="0">
              <a:buNone/>
            </a:pPr>
            <a:r>
              <a:rPr lang="en-US" sz="1200" b="1" dirty="0">
                <a:solidFill>
                  <a:srgbClr val="0C4A7D"/>
                </a:solidFill>
                <a:latin typeface="Poppins" pitchFamily="34" charset="0"/>
                <a:ea typeface="Poppins" pitchFamily="34" charset="-122"/>
                <a:cs typeface="Poppins" pitchFamily="34" charset="-120"/>
              </a:rPr>
              <a:t>Variance shown as £ exposure in real time</a:t>
            </a:r>
            <a:endParaRPr lang="en-US" sz="1200" dirty="0"/>
          </a:p>
        </p:txBody>
      </p:sp>
      <p:sp>
        <p:nvSpPr>
          <p:cNvPr id="23" name="Text 21"/>
          <p:cNvSpPr/>
          <p:nvPr/>
        </p:nvSpPr>
        <p:spPr>
          <a:xfrm>
            <a:off x="1051560" y="4142232"/>
            <a:ext cx="9601200" cy="2743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Every discrepancy has a visible business cost from the moment it is found</a:t>
            </a:r>
            <a:endParaRPr lang="en-US" sz="1050" dirty="0"/>
          </a:p>
        </p:txBody>
      </p:sp>
      <p:sp>
        <p:nvSpPr>
          <p:cNvPr id="24" name="Shape 22"/>
          <p:cNvSpPr/>
          <p:nvPr/>
        </p:nvSpPr>
        <p:spPr>
          <a:xfrm>
            <a:off x="731520" y="4663440"/>
            <a:ext cx="10698480" cy="685800"/>
          </a:xfrm>
          <a:prstGeom prst="rect">
            <a:avLst/>
          </a:prstGeom>
          <a:solidFill>
            <a:srgbClr val="F5F5F5"/>
          </a:solidFill>
          <a:ln/>
        </p:spPr>
        <p:txBody>
          <a:bodyPr/>
          <a:lstStyle/>
          <a:p>
            <a:endParaRPr lang="en-GB"/>
          </a:p>
        </p:txBody>
      </p:sp>
      <p:sp>
        <p:nvSpPr>
          <p:cNvPr id="25" name="Shape 23"/>
          <p:cNvSpPr/>
          <p:nvPr/>
        </p:nvSpPr>
        <p:spPr>
          <a:xfrm>
            <a:off x="731520" y="4663440"/>
            <a:ext cx="64008" cy="685800"/>
          </a:xfrm>
          <a:prstGeom prst="rect">
            <a:avLst/>
          </a:prstGeom>
          <a:solidFill>
            <a:srgbClr val="0C4A7D"/>
          </a:solidFill>
          <a:ln/>
        </p:spPr>
        <p:txBody>
          <a:bodyPr/>
          <a:lstStyle/>
          <a:p>
            <a:endParaRPr lang="en-GB"/>
          </a:p>
        </p:txBody>
      </p:sp>
      <p:sp>
        <p:nvSpPr>
          <p:cNvPr id="26" name="Text 24"/>
          <p:cNvSpPr/>
          <p:nvPr/>
        </p:nvSpPr>
        <p:spPr>
          <a:xfrm>
            <a:off x="1051560" y="4709160"/>
            <a:ext cx="2286000" cy="274320"/>
          </a:xfrm>
          <a:prstGeom prst="rect">
            <a:avLst/>
          </a:prstGeom>
          <a:noFill/>
          <a:ln/>
        </p:spPr>
        <p:txBody>
          <a:bodyPr wrap="square" lIns="0" tIns="0" rIns="0" bIns="0" rtlCol="0" anchor="ctr"/>
          <a:lstStyle/>
          <a:p>
            <a:pPr marL="0" indent="0">
              <a:buNone/>
            </a:pPr>
            <a:r>
              <a:rPr lang="en-US" sz="1300" b="1" dirty="0">
                <a:solidFill>
                  <a:srgbClr val="002747"/>
                </a:solidFill>
                <a:latin typeface="Poppins" pitchFamily="34" charset="0"/>
                <a:ea typeface="Poppins" pitchFamily="34" charset="-122"/>
                <a:cs typeface="Poppins" pitchFamily="34" charset="-120"/>
              </a:rPr>
              <a:t>Continuous Improvement</a:t>
            </a:r>
            <a:endParaRPr lang="en-US" sz="1300" dirty="0"/>
          </a:p>
        </p:txBody>
      </p:sp>
      <p:sp>
        <p:nvSpPr>
          <p:cNvPr id="27" name="Text 25"/>
          <p:cNvSpPr/>
          <p:nvPr/>
        </p:nvSpPr>
        <p:spPr>
          <a:xfrm>
            <a:off x="3474720" y="4709160"/>
            <a:ext cx="3474720" cy="274320"/>
          </a:xfrm>
          <a:prstGeom prst="rect">
            <a:avLst/>
          </a:prstGeom>
          <a:noFill/>
          <a:ln/>
        </p:spPr>
        <p:txBody>
          <a:bodyPr wrap="square" lIns="0" tIns="0" rIns="0" bIns="0" rtlCol="0" anchor="ctr"/>
          <a:lstStyle/>
          <a:p>
            <a:pPr marL="0" indent="0">
              <a:buNone/>
            </a:pPr>
            <a:r>
              <a:rPr lang="en-US" sz="1200" b="1" dirty="0">
                <a:solidFill>
                  <a:srgbClr val="0C4A7D"/>
                </a:solidFill>
                <a:latin typeface="Poppins" pitchFamily="34" charset="0"/>
                <a:ea typeface="Poppins" pitchFamily="34" charset="-122"/>
                <a:cs typeface="Poppins" pitchFamily="34" charset="-120"/>
              </a:rPr>
              <a:t>Each cycle is better than the last</a:t>
            </a:r>
            <a:endParaRPr lang="en-US" sz="1200" dirty="0"/>
          </a:p>
        </p:txBody>
      </p:sp>
      <p:sp>
        <p:nvSpPr>
          <p:cNvPr id="28" name="Text 26"/>
          <p:cNvSpPr/>
          <p:nvPr/>
        </p:nvSpPr>
        <p:spPr>
          <a:xfrm>
            <a:off x="1051560" y="5010912"/>
            <a:ext cx="9601200" cy="274320"/>
          </a:xfrm>
          <a:prstGeom prst="rect">
            <a:avLst/>
          </a:prstGeom>
          <a:noFill/>
          <a:ln/>
        </p:spPr>
        <p:txBody>
          <a:bodyPr wrap="square" lIns="0" tIns="0" rIns="0" bIns="0" rtlCol="0" anchor="ctr"/>
          <a:lstStyle/>
          <a:p>
            <a:pPr marL="0" indent="0">
              <a:buNone/>
            </a:pPr>
            <a:r>
              <a:rPr lang="en-US" sz="1050" dirty="0">
                <a:solidFill>
                  <a:srgbClr val="4B5563"/>
                </a:solidFill>
                <a:latin typeface="Poppins" pitchFamily="34" charset="0"/>
                <a:ea typeface="Poppins" pitchFamily="34" charset="-122"/>
                <a:cs typeface="Poppins" pitchFamily="34" charset="-120"/>
              </a:rPr>
              <a:t>The model learns from outcomes. Prediction quality improves automatically</a:t>
            </a:r>
            <a:endParaRPr lang="en-US" sz="1050" dirty="0"/>
          </a:p>
        </p:txBody>
      </p:sp>
      <p:sp>
        <p:nvSpPr>
          <p:cNvPr id="29" name="Shape 27"/>
          <p:cNvSpPr/>
          <p:nvPr/>
        </p:nvSpPr>
        <p:spPr>
          <a:xfrm>
            <a:off x="731520" y="5577840"/>
            <a:ext cx="10698480" cy="548640"/>
          </a:xfrm>
          <a:prstGeom prst="rect">
            <a:avLst/>
          </a:prstGeom>
          <a:solidFill>
            <a:srgbClr val="002747"/>
          </a:solidFill>
          <a:ln/>
        </p:spPr>
        <p:txBody>
          <a:bodyPr/>
          <a:lstStyle/>
          <a:p>
            <a:endParaRPr lang="en-GB"/>
          </a:p>
        </p:txBody>
      </p:sp>
      <p:sp>
        <p:nvSpPr>
          <p:cNvPr id="30" name="Text 28"/>
          <p:cNvSpPr/>
          <p:nvPr/>
        </p:nvSpPr>
        <p:spPr>
          <a:xfrm>
            <a:off x="1097280" y="5623560"/>
            <a:ext cx="9601200" cy="411480"/>
          </a:xfrm>
          <a:prstGeom prst="rect">
            <a:avLst/>
          </a:prstGeom>
          <a:noFill/>
          <a:ln/>
        </p:spPr>
        <p:txBody>
          <a:bodyPr wrap="square" lIns="0" tIns="0" rIns="0" bIns="0" rtlCol="0" anchor="ctr"/>
          <a:lstStyle/>
          <a:p>
            <a:pPr marL="0" indent="0">
              <a:buNone/>
            </a:pPr>
            <a:r>
              <a:rPr lang="en-US" sz="1200" dirty="0">
                <a:solidFill>
                  <a:srgbClr val="00B69F"/>
                </a:solidFill>
                <a:latin typeface="Poppins" pitchFamily="34" charset="0"/>
                <a:ea typeface="Poppins" pitchFamily="34" charset="-122"/>
                <a:cs typeface="Poppins" pitchFamily="34" charset="-120"/>
              </a:rPr>
              <a:t>These are targets based on our modelling. We will measure actual impact together during the pilot.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548640"/>
          </a:xfrm>
          <a:prstGeom prst="rect">
            <a:avLst/>
          </a:prstGeom>
          <a:noFill/>
          <a:ln/>
        </p:spPr>
        <p:txBody>
          <a:bodyPr wrap="square" lIns="0" tIns="0" rIns="0" bIns="0" rtlCol="0" anchor="ctr"/>
          <a:lstStyle/>
          <a:p>
            <a:pPr marL="0" indent="0">
              <a:buNone/>
            </a:pPr>
            <a:r>
              <a:rPr lang="en-US" sz="2800" b="1" dirty="0">
                <a:solidFill>
                  <a:srgbClr val="002747"/>
                </a:solidFill>
                <a:latin typeface="Poppins" pitchFamily="34" charset="0"/>
                <a:ea typeface="Poppins" pitchFamily="34" charset="-122"/>
                <a:cs typeface="Poppins" pitchFamily="34" charset="-120"/>
              </a:rPr>
              <a:t>Where This Goes</a:t>
            </a:r>
            <a:endParaRPr lang="en-US" sz="2800" dirty="0"/>
          </a:p>
        </p:txBody>
      </p:sp>
      <p:sp>
        <p:nvSpPr>
          <p:cNvPr id="4" name="Text 2"/>
          <p:cNvSpPr/>
          <p:nvPr/>
        </p:nvSpPr>
        <p:spPr>
          <a:xfrm>
            <a:off x="731520" y="914400"/>
            <a:ext cx="9144000" cy="320040"/>
          </a:xfrm>
          <a:prstGeom prst="rect">
            <a:avLst/>
          </a:prstGeom>
          <a:noFill/>
          <a:ln/>
        </p:spPr>
        <p:txBody>
          <a:bodyPr wrap="square" lIns="0" tIns="0" rIns="0" bIns="0" rtlCol="0" anchor="ctr"/>
          <a:lstStyle/>
          <a:p>
            <a:pPr marL="0" indent="0">
              <a:buNone/>
            </a:pPr>
            <a:r>
              <a:rPr lang="en-US" sz="1300" dirty="0">
                <a:solidFill>
                  <a:srgbClr val="0C4A7D"/>
                </a:solidFill>
                <a:latin typeface="Poppins" pitchFamily="34" charset="0"/>
                <a:ea typeface="Poppins" pitchFamily="34" charset="-122"/>
                <a:cs typeface="Poppins" pitchFamily="34" charset="-120"/>
              </a:rPr>
              <a:t>AI-directed counting is the starting point. The intelligence compounds.</a:t>
            </a:r>
            <a:endParaRPr lang="en-US" sz="1300" dirty="0"/>
          </a:p>
        </p:txBody>
      </p:sp>
      <p:sp>
        <p:nvSpPr>
          <p:cNvPr id="5" name="Shape 3"/>
          <p:cNvSpPr/>
          <p:nvPr/>
        </p:nvSpPr>
        <p:spPr>
          <a:xfrm>
            <a:off x="731520" y="1463040"/>
            <a:ext cx="347472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6" name="Shape 4"/>
          <p:cNvSpPr/>
          <p:nvPr/>
        </p:nvSpPr>
        <p:spPr>
          <a:xfrm>
            <a:off x="731520" y="1463040"/>
            <a:ext cx="3474720" cy="45720"/>
          </a:xfrm>
          <a:prstGeom prst="rect">
            <a:avLst/>
          </a:prstGeom>
          <a:solidFill>
            <a:srgbClr val="00B69F"/>
          </a:solidFill>
          <a:ln/>
        </p:spPr>
        <p:txBody>
          <a:bodyPr/>
          <a:lstStyle/>
          <a:p>
            <a:endParaRPr lang="en-GB"/>
          </a:p>
        </p:txBody>
      </p:sp>
      <p:sp>
        <p:nvSpPr>
          <p:cNvPr id="7" name="Shape 5"/>
          <p:cNvSpPr/>
          <p:nvPr/>
        </p:nvSpPr>
        <p:spPr>
          <a:xfrm>
            <a:off x="914400" y="1691640"/>
            <a:ext cx="1280160" cy="292608"/>
          </a:xfrm>
          <a:prstGeom prst="rect">
            <a:avLst/>
          </a:prstGeom>
          <a:solidFill>
            <a:srgbClr val="00B69F"/>
          </a:solidFill>
          <a:ln/>
        </p:spPr>
        <p:txBody>
          <a:bodyPr/>
          <a:lstStyle/>
          <a:p>
            <a:endParaRPr lang="en-GB"/>
          </a:p>
        </p:txBody>
      </p:sp>
      <p:sp>
        <p:nvSpPr>
          <p:cNvPr id="8" name="Text 6"/>
          <p:cNvSpPr/>
          <p:nvPr/>
        </p:nvSpPr>
        <p:spPr>
          <a:xfrm>
            <a:off x="914400" y="169164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This Quarter</a:t>
            </a:r>
            <a:endParaRPr lang="en-US" sz="900" dirty="0"/>
          </a:p>
        </p:txBody>
      </p:sp>
      <p:sp>
        <p:nvSpPr>
          <p:cNvPr id="9" name="Text 7"/>
          <p:cNvSpPr/>
          <p:nvPr/>
        </p:nvSpPr>
        <p:spPr>
          <a:xfrm>
            <a:off x="914400" y="2194560"/>
            <a:ext cx="3108960" cy="457200"/>
          </a:xfrm>
          <a:prstGeom prst="rect">
            <a:avLst/>
          </a:prstGeom>
          <a:noFill/>
          <a:ln/>
        </p:spPr>
        <p:txBody>
          <a:bodyPr wrap="square" lIns="0" tIns="0" rIns="0" bIns="0" rtlCol="0" anchor="ctr"/>
          <a:lstStyle/>
          <a:p>
            <a:pPr marL="0" indent="0">
              <a:buNone/>
            </a:pPr>
            <a:r>
              <a:rPr lang="en-US" sz="1700" b="1" dirty="0">
                <a:solidFill>
                  <a:srgbClr val="002747"/>
                </a:solidFill>
                <a:latin typeface="Poppins" pitchFamily="34" charset="0"/>
                <a:ea typeface="Poppins" pitchFamily="34" charset="-122"/>
                <a:cs typeface="Poppins" pitchFamily="34" charset="-120"/>
              </a:rPr>
              <a:t>Smarter Counting</a:t>
            </a:r>
            <a:endParaRPr lang="en-US" sz="1700" dirty="0"/>
          </a:p>
        </p:txBody>
      </p:sp>
      <p:sp>
        <p:nvSpPr>
          <p:cNvPr id="10" name="Text 8"/>
          <p:cNvSpPr/>
          <p:nvPr/>
        </p:nvSpPr>
        <p:spPr>
          <a:xfrm>
            <a:off x="914400" y="2743200"/>
            <a:ext cx="3108960" cy="1097280"/>
          </a:xfrm>
          <a:prstGeom prst="rect">
            <a:avLst/>
          </a:prstGeom>
          <a:noFill/>
          <a:ln/>
        </p:spPr>
        <p:txBody>
          <a:bodyPr wrap="square" lIns="0" tIns="0" rIns="0" bIns="0" rtlCol="0" anchor="ctr"/>
          <a:lstStyle/>
          <a:p>
            <a:pPr marL="0" indent="0">
              <a:buNone/>
            </a:pPr>
            <a:r>
              <a:rPr lang="en-US" sz="1150" dirty="0">
                <a:solidFill>
                  <a:srgbClr val="4B5563"/>
                </a:solidFill>
                <a:latin typeface="Poppins" pitchFamily="34" charset="0"/>
                <a:ea typeface="Poppins" pitchFamily="34" charset="-122"/>
                <a:cs typeface="Poppins" pitchFamily="34" charset="-120"/>
              </a:rPr>
              <a:t>AI-prioritised line checks with results management and business logic controls in Fourth iQ.</a:t>
            </a:r>
            <a:endParaRPr lang="en-US" sz="1150" dirty="0"/>
          </a:p>
        </p:txBody>
      </p:sp>
      <p:sp>
        <p:nvSpPr>
          <p:cNvPr id="11" name="Shape 9"/>
          <p:cNvSpPr/>
          <p:nvPr/>
        </p:nvSpPr>
        <p:spPr>
          <a:xfrm>
            <a:off x="4480560" y="1463040"/>
            <a:ext cx="347472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2" name="Shape 10"/>
          <p:cNvSpPr/>
          <p:nvPr/>
        </p:nvSpPr>
        <p:spPr>
          <a:xfrm>
            <a:off x="4480560" y="1463040"/>
            <a:ext cx="3474720" cy="45720"/>
          </a:xfrm>
          <a:prstGeom prst="rect">
            <a:avLst/>
          </a:prstGeom>
          <a:solidFill>
            <a:srgbClr val="6FB4E3"/>
          </a:solidFill>
          <a:ln/>
        </p:spPr>
        <p:txBody>
          <a:bodyPr/>
          <a:lstStyle/>
          <a:p>
            <a:endParaRPr lang="en-GB"/>
          </a:p>
        </p:txBody>
      </p:sp>
      <p:sp>
        <p:nvSpPr>
          <p:cNvPr id="13" name="Shape 11"/>
          <p:cNvSpPr/>
          <p:nvPr/>
        </p:nvSpPr>
        <p:spPr>
          <a:xfrm>
            <a:off x="4663440" y="1691640"/>
            <a:ext cx="1280160" cy="292608"/>
          </a:xfrm>
          <a:prstGeom prst="rect">
            <a:avLst/>
          </a:prstGeom>
          <a:solidFill>
            <a:srgbClr val="6FB4E3"/>
          </a:solidFill>
          <a:ln/>
        </p:spPr>
        <p:txBody>
          <a:bodyPr/>
          <a:lstStyle/>
          <a:p>
            <a:endParaRPr lang="en-GB"/>
          </a:p>
        </p:txBody>
      </p:sp>
      <p:sp>
        <p:nvSpPr>
          <p:cNvPr id="14" name="Text 12"/>
          <p:cNvSpPr/>
          <p:nvPr/>
        </p:nvSpPr>
        <p:spPr>
          <a:xfrm>
            <a:off x="4663440" y="169164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Coming Next</a:t>
            </a:r>
            <a:endParaRPr lang="en-US" sz="900" dirty="0"/>
          </a:p>
        </p:txBody>
      </p:sp>
      <p:sp>
        <p:nvSpPr>
          <p:cNvPr id="15" name="Text 13"/>
          <p:cNvSpPr/>
          <p:nvPr/>
        </p:nvSpPr>
        <p:spPr>
          <a:xfrm>
            <a:off x="4663440" y="2194560"/>
            <a:ext cx="3108960" cy="457200"/>
          </a:xfrm>
          <a:prstGeom prst="rect">
            <a:avLst/>
          </a:prstGeom>
          <a:noFill/>
          <a:ln/>
        </p:spPr>
        <p:txBody>
          <a:bodyPr wrap="square" lIns="0" tIns="0" rIns="0" bIns="0" rtlCol="0" anchor="ctr"/>
          <a:lstStyle/>
          <a:p>
            <a:pPr marL="0" indent="0">
              <a:buNone/>
            </a:pPr>
            <a:r>
              <a:rPr lang="en-US" sz="1700" b="1" dirty="0">
                <a:solidFill>
                  <a:srgbClr val="002747"/>
                </a:solidFill>
                <a:latin typeface="Poppins" pitchFamily="34" charset="0"/>
                <a:ea typeface="Poppins" pitchFamily="34" charset="-122"/>
                <a:cs typeface="Poppins" pitchFamily="34" charset="-120"/>
              </a:rPr>
              <a:t>Live Stock View</a:t>
            </a:r>
            <a:endParaRPr lang="en-US" sz="1700" dirty="0"/>
          </a:p>
        </p:txBody>
      </p:sp>
      <p:sp>
        <p:nvSpPr>
          <p:cNvPr id="16" name="Text 14"/>
          <p:cNvSpPr/>
          <p:nvPr/>
        </p:nvSpPr>
        <p:spPr>
          <a:xfrm>
            <a:off x="4663440" y="2743200"/>
            <a:ext cx="3108960" cy="1097280"/>
          </a:xfrm>
          <a:prstGeom prst="rect">
            <a:avLst/>
          </a:prstGeom>
          <a:noFill/>
          <a:ln/>
        </p:spPr>
        <p:txBody>
          <a:bodyPr wrap="square" lIns="0" tIns="0" rIns="0" bIns="0" rtlCol="0" anchor="ctr"/>
          <a:lstStyle/>
          <a:p>
            <a:pPr marL="0" indent="0">
              <a:buNone/>
            </a:pPr>
            <a:r>
              <a:rPr lang="en-US" sz="1150" dirty="0">
                <a:solidFill>
                  <a:srgbClr val="4B5563"/>
                </a:solidFill>
                <a:latin typeface="Poppins" pitchFamily="34" charset="0"/>
                <a:ea typeface="Poppins" pitchFamily="34" charset="-122"/>
                <a:cs typeface="Poppins" pitchFamily="34" charset="-120"/>
              </a:rPr>
              <a:t>Continuously updated inventory position for every product. Less reliance on periodic counts.</a:t>
            </a:r>
            <a:endParaRPr lang="en-US" sz="1150" dirty="0"/>
          </a:p>
        </p:txBody>
      </p:sp>
      <p:sp>
        <p:nvSpPr>
          <p:cNvPr id="17" name="Shape 15"/>
          <p:cNvSpPr/>
          <p:nvPr/>
        </p:nvSpPr>
        <p:spPr>
          <a:xfrm>
            <a:off x="8229600" y="1463040"/>
            <a:ext cx="347472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GB"/>
          </a:p>
        </p:txBody>
      </p:sp>
      <p:sp>
        <p:nvSpPr>
          <p:cNvPr id="18" name="Shape 16"/>
          <p:cNvSpPr/>
          <p:nvPr/>
        </p:nvSpPr>
        <p:spPr>
          <a:xfrm>
            <a:off x="8229600" y="1463040"/>
            <a:ext cx="3474720" cy="45720"/>
          </a:xfrm>
          <a:prstGeom prst="rect">
            <a:avLst/>
          </a:prstGeom>
          <a:solidFill>
            <a:srgbClr val="0C4A7D"/>
          </a:solidFill>
          <a:ln/>
        </p:spPr>
        <p:txBody>
          <a:bodyPr/>
          <a:lstStyle/>
          <a:p>
            <a:endParaRPr lang="en-GB"/>
          </a:p>
        </p:txBody>
      </p:sp>
      <p:sp>
        <p:nvSpPr>
          <p:cNvPr id="19" name="Shape 17"/>
          <p:cNvSpPr/>
          <p:nvPr/>
        </p:nvSpPr>
        <p:spPr>
          <a:xfrm>
            <a:off x="8412480" y="1691640"/>
            <a:ext cx="1280160" cy="292608"/>
          </a:xfrm>
          <a:prstGeom prst="rect">
            <a:avLst/>
          </a:prstGeom>
          <a:solidFill>
            <a:srgbClr val="0C4A7D"/>
          </a:solidFill>
          <a:ln/>
        </p:spPr>
        <p:txBody>
          <a:bodyPr/>
          <a:lstStyle/>
          <a:p>
            <a:endParaRPr lang="en-GB"/>
          </a:p>
        </p:txBody>
      </p:sp>
      <p:sp>
        <p:nvSpPr>
          <p:cNvPr id="20" name="Text 18"/>
          <p:cNvSpPr/>
          <p:nvPr/>
        </p:nvSpPr>
        <p:spPr>
          <a:xfrm>
            <a:off x="8412480" y="169164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Poppins" pitchFamily="34" charset="0"/>
                <a:ea typeface="Poppins" pitchFamily="34" charset="-122"/>
                <a:cs typeface="Poppins" pitchFamily="34" charset="-120"/>
              </a:rPr>
              <a:t>On the Horizon</a:t>
            </a:r>
            <a:endParaRPr lang="en-US" sz="900" dirty="0"/>
          </a:p>
        </p:txBody>
      </p:sp>
      <p:sp>
        <p:nvSpPr>
          <p:cNvPr id="21" name="Text 19"/>
          <p:cNvSpPr/>
          <p:nvPr/>
        </p:nvSpPr>
        <p:spPr>
          <a:xfrm>
            <a:off x="8412480" y="2194560"/>
            <a:ext cx="3108960" cy="457200"/>
          </a:xfrm>
          <a:prstGeom prst="rect">
            <a:avLst/>
          </a:prstGeom>
          <a:noFill/>
          <a:ln/>
        </p:spPr>
        <p:txBody>
          <a:bodyPr wrap="square" lIns="0" tIns="0" rIns="0" bIns="0" rtlCol="0" anchor="ctr"/>
          <a:lstStyle/>
          <a:p>
            <a:pPr marL="0" indent="0">
              <a:buNone/>
            </a:pPr>
            <a:r>
              <a:rPr lang="en-US" sz="1700" b="1" dirty="0">
                <a:solidFill>
                  <a:srgbClr val="002747"/>
                </a:solidFill>
                <a:latin typeface="Poppins" pitchFamily="34" charset="0"/>
                <a:ea typeface="Poppins" pitchFamily="34" charset="-122"/>
                <a:cs typeface="Poppins" pitchFamily="34" charset="-120"/>
              </a:rPr>
              <a:t>Smarter Ordering</a:t>
            </a:r>
            <a:endParaRPr lang="en-US" sz="1700" dirty="0"/>
          </a:p>
        </p:txBody>
      </p:sp>
      <p:sp>
        <p:nvSpPr>
          <p:cNvPr id="22" name="Text 20"/>
          <p:cNvSpPr/>
          <p:nvPr/>
        </p:nvSpPr>
        <p:spPr>
          <a:xfrm>
            <a:off x="8412480" y="2743200"/>
            <a:ext cx="3108960" cy="1097280"/>
          </a:xfrm>
          <a:prstGeom prst="rect">
            <a:avLst/>
          </a:prstGeom>
          <a:noFill/>
          <a:ln/>
        </p:spPr>
        <p:txBody>
          <a:bodyPr wrap="square" lIns="0" tIns="0" rIns="0" bIns="0" rtlCol="0" anchor="ctr"/>
          <a:lstStyle/>
          <a:p>
            <a:pPr marL="0" indent="0">
              <a:buNone/>
            </a:pPr>
            <a:r>
              <a:rPr lang="en-US" sz="1150" dirty="0">
                <a:solidFill>
                  <a:srgbClr val="4B5563"/>
                </a:solidFill>
                <a:latin typeface="Poppins" pitchFamily="34" charset="0"/>
                <a:ea typeface="Poppins" pitchFamily="34" charset="-122"/>
                <a:cs typeface="Poppins" pitchFamily="34" charset="-120"/>
              </a:rPr>
              <a:t>AI-recommended orders built on the live inventory position. Counting intelligence feeds ordering.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747"/>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Text 1"/>
          <p:cNvSpPr/>
          <p:nvPr/>
        </p:nvSpPr>
        <p:spPr>
          <a:xfrm>
            <a:off x="731520" y="36576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Poppins" pitchFamily="34" charset="0"/>
                <a:ea typeface="Poppins" pitchFamily="34" charset="-122"/>
                <a:cs typeface="Poppins" pitchFamily="34" charset="-120"/>
              </a:rPr>
              <a:t>Your Input</a:t>
            </a:r>
            <a:endParaRPr lang="en-US" sz="3200" dirty="0"/>
          </a:p>
        </p:txBody>
      </p:sp>
      <p:sp>
        <p:nvSpPr>
          <p:cNvPr id="4" name="Text 2"/>
          <p:cNvSpPr/>
          <p:nvPr/>
        </p:nvSpPr>
        <p:spPr>
          <a:xfrm>
            <a:off x="731520" y="1005840"/>
            <a:ext cx="9144000" cy="365760"/>
          </a:xfrm>
          <a:prstGeom prst="rect">
            <a:avLst/>
          </a:prstGeom>
          <a:noFill/>
          <a:ln/>
        </p:spPr>
        <p:txBody>
          <a:bodyPr wrap="square" lIns="0" tIns="0" rIns="0" bIns="0" rtlCol="0" anchor="ctr"/>
          <a:lstStyle/>
          <a:p>
            <a:pPr marL="0" indent="0">
              <a:buNone/>
            </a:pPr>
            <a:r>
              <a:rPr lang="en-US" sz="1400" dirty="0">
                <a:solidFill>
                  <a:srgbClr val="6FB4E3"/>
                </a:solidFill>
                <a:latin typeface="Poppins" pitchFamily="34" charset="0"/>
                <a:ea typeface="Poppins" pitchFamily="34" charset="-122"/>
                <a:cs typeface="Poppins" pitchFamily="34" charset="-120"/>
              </a:rPr>
              <a:t>We built this to solve real problems. Help us make sure we got it right.</a:t>
            </a:r>
            <a:endParaRPr lang="en-US" sz="1400" dirty="0"/>
          </a:p>
        </p:txBody>
      </p:sp>
      <p:sp>
        <p:nvSpPr>
          <p:cNvPr id="5" name="Shape 3"/>
          <p:cNvSpPr/>
          <p:nvPr/>
        </p:nvSpPr>
        <p:spPr>
          <a:xfrm>
            <a:off x="731520" y="1645920"/>
            <a:ext cx="10698480" cy="457200"/>
          </a:xfrm>
          <a:prstGeom prst="rect">
            <a:avLst/>
          </a:prstGeom>
          <a:solidFill>
            <a:srgbClr val="0C4A7D"/>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1005840" y="1719072"/>
            <a:ext cx="274320" cy="274320"/>
          </a:xfrm>
          <a:prstGeom prst="rect">
            <a:avLst/>
          </a:prstGeom>
        </p:spPr>
      </p:pic>
      <p:sp>
        <p:nvSpPr>
          <p:cNvPr id="7" name="Text 4"/>
          <p:cNvSpPr/>
          <p:nvPr/>
        </p:nvSpPr>
        <p:spPr>
          <a:xfrm>
            <a:off x="1463040" y="1691640"/>
            <a:ext cx="9601200" cy="365760"/>
          </a:xfrm>
          <a:prstGeom prst="rect">
            <a:avLst/>
          </a:prstGeom>
          <a:noFill/>
          <a:ln/>
        </p:spPr>
        <p:txBody>
          <a:bodyPr wrap="square" lIns="0" tIns="0" rIns="0" bIns="0" rtlCol="0" anchor="ctr"/>
          <a:lstStyle/>
          <a:p>
            <a:pPr marL="0" indent="0">
              <a:buNone/>
            </a:pPr>
            <a:r>
              <a:rPr lang="en-US" sz="1300" dirty="0">
                <a:solidFill>
                  <a:srgbClr val="FFFFFF"/>
                </a:solidFill>
                <a:latin typeface="Poppins" pitchFamily="34" charset="0"/>
                <a:ea typeface="Poppins" pitchFamily="34" charset="-122"/>
                <a:cs typeface="Poppins" pitchFamily="34" charset="-120"/>
              </a:rPr>
              <a:t>Does the workflow match how your operations actually run?</a:t>
            </a:r>
            <a:endParaRPr lang="en-US" sz="1300" dirty="0"/>
          </a:p>
        </p:txBody>
      </p:sp>
      <p:sp>
        <p:nvSpPr>
          <p:cNvPr id="8" name="Shape 5"/>
          <p:cNvSpPr/>
          <p:nvPr/>
        </p:nvSpPr>
        <p:spPr>
          <a:xfrm>
            <a:off x="731520" y="2240280"/>
            <a:ext cx="10698480" cy="457200"/>
          </a:xfrm>
          <a:prstGeom prst="rect">
            <a:avLst/>
          </a:prstGeom>
          <a:solidFill>
            <a:srgbClr val="0C4A7D"/>
          </a:solidFill>
          <a:ln/>
        </p:spPr>
        <p:txBody>
          <a:bodyPr/>
          <a:lstStyle/>
          <a:p>
            <a:endParaRPr lang="en-GB"/>
          </a:p>
        </p:txBody>
      </p:sp>
      <p:pic>
        <p:nvPicPr>
          <p:cNvPr id="9" name="Image 1" descr="preencoded.png"/>
          <p:cNvPicPr>
            <a:picLocks noChangeAspect="1"/>
          </p:cNvPicPr>
          <p:nvPr/>
        </p:nvPicPr>
        <p:blipFill>
          <a:blip r:embed="rId3"/>
          <a:stretch>
            <a:fillRect/>
          </a:stretch>
        </p:blipFill>
        <p:spPr>
          <a:xfrm>
            <a:off x="1005840" y="2313432"/>
            <a:ext cx="274320" cy="274320"/>
          </a:xfrm>
          <a:prstGeom prst="rect">
            <a:avLst/>
          </a:prstGeom>
        </p:spPr>
      </p:pic>
      <p:sp>
        <p:nvSpPr>
          <p:cNvPr id="10" name="Text 6"/>
          <p:cNvSpPr/>
          <p:nvPr/>
        </p:nvSpPr>
        <p:spPr>
          <a:xfrm>
            <a:off x="1463040" y="2286000"/>
            <a:ext cx="9601200" cy="365760"/>
          </a:xfrm>
          <a:prstGeom prst="rect">
            <a:avLst/>
          </a:prstGeom>
          <a:noFill/>
          <a:ln/>
        </p:spPr>
        <p:txBody>
          <a:bodyPr wrap="square" lIns="0" tIns="0" rIns="0" bIns="0" rtlCol="0" anchor="ctr"/>
          <a:lstStyle/>
          <a:p>
            <a:pPr marL="0" indent="0">
              <a:buNone/>
            </a:pPr>
            <a:r>
              <a:rPr lang="en-US" sz="1300" dirty="0">
                <a:solidFill>
                  <a:srgbClr val="FFFFFF"/>
                </a:solidFill>
                <a:latin typeface="Poppins" pitchFamily="34" charset="0"/>
                <a:ea typeface="Poppins" pitchFamily="34" charset="-122"/>
                <a:cs typeface="Poppins" pitchFamily="34" charset="-120"/>
              </a:rPr>
              <a:t>Are the right controls available? Is anything missing?</a:t>
            </a:r>
            <a:endParaRPr lang="en-US" sz="1300" dirty="0"/>
          </a:p>
        </p:txBody>
      </p:sp>
      <p:sp>
        <p:nvSpPr>
          <p:cNvPr id="11" name="Shape 7"/>
          <p:cNvSpPr/>
          <p:nvPr/>
        </p:nvSpPr>
        <p:spPr>
          <a:xfrm>
            <a:off x="731520" y="2834640"/>
            <a:ext cx="10698480" cy="457200"/>
          </a:xfrm>
          <a:prstGeom prst="rect">
            <a:avLst/>
          </a:prstGeom>
          <a:solidFill>
            <a:srgbClr val="0C4A7D"/>
          </a:solidFill>
          <a:ln/>
        </p:spPr>
        <p:txBody>
          <a:bodyPr/>
          <a:lstStyle/>
          <a:p>
            <a:endParaRPr lang="en-GB"/>
          </a:p>
        </p:txBody>
      </p:sp>
      <p:pic>
        <p:nvPicPr>
          <p:cNvPr id="12" name="Image 2" descr="preencoded.png"/>
          <p:cNvPicPr>
            <a:picLocks noChangeAspect="1"/>
          </p:cNvPicPr>
          <p:nvPr/>
        </p:nvPicPr>
        <p:blipFill>
          <a:blip r:embed="rId3"/>
          <a:stretch>
            <a:fillRect/>
          </a:stretch>
        </p:blipFill>
        <p:spPr>
          <a:xfrm>
            <a:off x="1005840" y="2907792"/>
            <a:ext cx="274320" cy="274320"/>
          </a:xfrm>
          <a:prstGeom prst="rect">
            <a:avLst/>
          </a:prstGeom>
        </p:spPr>
      </p:pic>
      <p:sp>
        <p:nvSpPr>
          <p:cNvPr id="13" name="Text 8"/>
          <p:cNvSpPr/>
          <p:nvPr/>
        </p:nvSpPr>
        <p:spPr>
          <a:xfrm>
            <a:off x="1463040" y="2880360"/>
            <a:ext cx="9601200" cy="365760"/>
          </a:xfrm>
          <a:prstGeom prst="rect">
            <a:avLst/>
          </a:prstGeom>
          <a:noFill/>
          <a:ln/>
        </p:spPr>
        <p:txBody>
          <a:bodyPr wrap="square" lIns="0" tIns="0" rIns="0" bIns="0" rtlCol="0" anchor="ctr"/>
          <a:lstStyle/>
          <a:p>
            <a:pPr marL="0" indent="0">
              <a:buNone/>
            </a:pPr>
            <a:r>
              <a:rPr lang="en-US" sz="1300" dirty="0">
                <a:solidFill>
                  <a:srgbClr val="FFFFFF"/>
                </a:solidFill>
                <a:latin typeface="Poppins" pitchFamily="34" charset="0"/>
                <a:ea typeface="Poppins" pitchFamily="34" charset="-122"/>
                <a:cs typeface="Poppins" pitchFamily="34" charset="-120"/>
              </a:rPr>
              <a:t>Would your operators trust recommendations with visible reasons?</a:t>
            </a:r>
            <a:endParaRPr lang="en-US" sz="1300" dirty="0"/>
          </a:p>
        </p:txBody>
      </p:sp>
      <p:sp>
        <p:nvSpPr>
          <p:cNvPr id="14" name="Shape 9"/>
          <p:cNvSpPr/>
          <p:nvPr/>
        </p:nvSpPr>
        <p:spPr>
          <a:xfrm>
            <a:off x="731520" y="3429000"/>
            <a:ext cx="10698480" cy="457200"/>
          </a:xfrm>
          <a:prstGeom prst="rect">
            <a:avLst/>
          </a:prstGeom>
          <a:solidFill>
            <a:srgbClr val="0C4A7D"/>
          </a:solidFill>
          <a:ln/>
        </p:spPr>
        <p:txBody>
          <a:bodyPr/>
          <a:lstStyle/>
          <a:p>
            <a:endParaRPr lang="en-GB"/>
          </a:p>
        </p:txBody>
      </p:sp>
      <p:pic>
        <p:nvPicPr>
          <p:cNvPr id="15" name="Image 3" descr="preencoded.png"/>
          <p:cNvPicPr>
            <a:picLocks noChangeAspect="1"/>
          </p:cNvPicPr>
          <p:nvPr/>
        </p:nvPicPr>
        <p:blipFill>
          <a:blip r:embed="rId3"/>
          <a:stretch>
            <a:fillRect/>
          </a:stretch>
        </p:blipFill>
        <p:spPr>
          <a:xfrm>
            <a:off x="1005840" y="3502152"/>
            <a:ext cx="274320" cy="274320"/>
          </a:xfrm>
          <a:prstGeom prst="rect">
            <a:avLst/>
          </a:prstGeom>
        </p:spPr>
      </p:pic>
      <p:sp>
        <p:nvSpPr>
          <p:cNvPr id="16" name="Text 10"/>
          <p:cNvSpPr/>
          <p:nvPr/>
        </p:nvSpPr>
        <p:spPr>
          <a:xfrm>
            <a:off x="1463040" y="3474720"/>
            <a:ext cx="9601200" cy="365760"/>
          </a:xfrm>
          <a:prstGeom prst="rect">
            <a:avLst/>
          </a:prstGeom>
          <a:noFill/>
          <a:ln/>
        </p:spPr>
        <p:txBody>
          <a:bodyPr wrap="square" lIns="0" tIns="0" rIns="0" bIns="0" rtlCol="0" anchor="ctr"/>
          <a:lstStyle/>
          <a:p>
            <a:pPr marL="0" indent="0">
              <a:buNone/>
            </a:pPr>
            <a:r>
              <a:rPr lang="en-US" sz="1300" dirty="0">
                <a:solidFill>
                  <a:srgbClr val="FFFFFF"/>
                </a:solidFill>
                <a:latin typeface="Poppins" pitchFamily="34" charset="0"/>
                <a:ea typeface="Poppins" pitchFamily="34" charset="-122"/>
                <a:cs typeface="Poppins" pitchFamily="34" charset="-120"/>
              </a:rPr>
              <a:t>What would make you confident enough to reduce your counting volume?</a:t>
            </a:r>
            <a:endParaRPr lang="en-US" sz="1300" dirty="0"/>
          </a:p>
        </p:txBody>
      </p:sp>
      <p:sp>
        <p:nvSpPr>
          <p:cNvPr id="17" name="Shape 11"/>
          <p:cNvSpPr/>
          <p:nvPr/>
        </p:nvSpPr>
        <p:spPr>
          <a:xfrm>
            <a:off x="731520" y="4023360"/>
            <a:ext cx="10698480" cy="457200"/>
          </a:xfrm>
          <a:prstGeom prst="rect">
            <a:avLst/>
          </a:prstGeom>
          <a:solidFill>
            <a:srgbClr val="0C4A7D"/>
          </a:solidFill>
          <a:ln/>
        </p:spPr>
        <p:txBody>
          <a:bodyPr/>
          <a:lstStyle/>
          <a:p>
            <a:endParaRPr lang="en-GB"/>
          </a:p>
        </p:txBody>
      </p:sp>
      <p:pic>
        <p:nvPicPr>
          <p:cNvPr id="18" name="Image 4" descr="preencoded.png"/>
          <p:cNvPicPr>
            <a:picLocks noChangeAspect="1"/>
          </p:cNvPicPr>
          <p:nvPr/>
        </p:nvPicPr>
        <p:blipFill>
          <a:blip r:embed="rId3"/>
          <a:stretch>
            <a:fillRect/>
          </a:stretch>
        </p:blipFill>
        <p:spPr>
          <a:xfrm>
            <a:off x="1005840" y="4096512"/>
            <a:ext cx="274320" cy="274320"/>
          </a:xfrm>
          <a:prstGeom prst="rect">
            <a:avLst/>
          </a:prstGeom>
        </p:spPr>
      </p:pic>
      <p:sp>
        <p:nvSpPr>
          <p:cNvPr id="19" name="Text 12"/>
          <p:cNvSpPr/>
          <p:nvPr/>
        </p:nvSpPr>
        <p:spPr>
          <a:xfrm>
            <a:off x="1463040" y="4069080"/>
            <a:ext cx="9601200" cy="365760"/>
          </a:xfrm>
          <a:prstGeom prst="rect">
            <a:avLst/>
          </a:prstGeom>
          <a:noFill/>
          <a:ln/>
        </p:spPr>
        <p:txBody>
          <a:bodyPr wrap="square" lIns="0" tIns="0" rIns="0" bIns="0" rtlCol="0" anchor="ctr"/>
          <a:lstStyle/>
          <a:p>
            <a:pPr marL="0" indent="0">
              <a:buNone/>
            </a:pPr>
            <a:r>
              <a:rPr lang="en-US" sz="1300" dirty="0">
                <a:solidFill>
                  <a:srgbClr val="FFFFFF"/>
                </a:solidFill>
                <a:latin typeface="Poppins" pitchFamily="34" charset="0"/>
                <a:ea typeface="Poppins" pitchFamily="34" charset="-122"/>
                <a:cs typeface="Poppins" pitchFamily="34" charset="-120"/>
              </a:rPr>
              <a:t>Where would you start? Which categories or sites first?</a:t>
            </a:r>
            <a:endParaRPr lang="en-US" sz="1300" dirty="0"/>
          </a:p>
        </p:txBody>
      </p:sp>
      <p:sp>
        <p:nvSpPr>
          <p:cNvPr id="20" name="Shape 13"/>
          <p:cNvSpPr/>
          <p:nvPr/>
        </p:nvSpPr>
        <p:spPr>
          <a:xfrm>
            <a:off x="731520" y="4617720"/>
            <a:ext cx="10698480" cy="457200"/>
          </a:xfrm>
          <a:prstGeom prst="rect">
            <a:avLst/>
          </a:prstGeom>
          <a:solidFill>
            <a:srgbClr val="0C4A7D"/>
          </a:solidFill>
          <a:ln/>
        </p:spPr>
        <p:txBody>
          <a:bodyPr/>
          <a:lstStyle/>
          <a:p>
            <a:endParaRPr lang="en-GB"/>
          </a:p>
        </p:txBody>
      </p:sp>
      <p:pic>
        <p:nvPicPr>
          <p:cNvPr id="21" name="Image 5" descr="preencoded.png"/>
          <p:cNvPicPr>
            <a:picLocks noChangeAspect="1"/>
          </p:cNvPicPr>
          <p:nvPr/>
        </p:nvPicPr>
        <p:blipFill>
          <a:blip r:embed="rId3"/>
          <a:stretch>
            <a:fillRect/>
          </a:stretch>
        </p:blipFill>
        <p:spPr>
          <a:xfrm>
            <a:off x="1005840" y="4690872"/>
            <a:ext cx="274320" cy="274320"/>
          </a:xfrm>
          <a:prstGeom prst="rect">
            <a:avLst/>
          </a:prstGeom>
        </p:spPr>
      </p:pic>
      <p:sp>
        <p:nvSpPr>
          <p:cNvPr id="22" name="Text 14"/>
          <p:cNvSpPr/>
          <p:nvPr/>
        </p:nvSpPr>
        <p:spPr>
          <a:xfrm>
            <a:off x="1463040" y="4663440"/>
            <a:ext cx="9601200" cy="365760"/>
          </a:xfrm>
          <a:prstGeom prst="rect">
            <a:avLst/>
          </a:prstGeom>
          <a:noFill/>
          <a:ln/>
        </p:spPr>
        <p:txBody>
          <a:bodyPr wrap="square" lIns="0" tIns="0" rIns="0" bIns="0" rtlCol="0" anchor="ctr"/>
          <a:lstStyle/>
          <a:p>
            <a:pPr marL="0" indent="0">
              <a:buNone/>
            </a:pPr>
            <a:r>
              <a:rPr lang="en-US" sz="1300" dirty="0">
                <a:solidFill>
                  <a:srgbClr val="FFFFFF"/>
                </a:solidFill>
                <a:latin typeface="Poppins" pitchFamily="34" charset="0"/>
                <a:ea typeface="Poppins" pitchFamily="34" charset="-122"/>
                <a:cs typeface="Poppins" pitchFamily="34" charset="-120"/>
              </a:rPr>
              <a:t>What would you need to see in the first month to know it is working?</a:t>
            </a:r>
            <a:endParaRPr lang="en-US" sz="1300" dirty="0"/>
          </a:p>
        </p:txBody>
      </p:sp>
      <p:sp>
        <p:nvSpPr>
          <p:cNvPr id="23" name="Shape 15"/>
          <p:cNvSpPr/>
          <p:nvPr/>
        </p:nvSpPr>
        <p:spPr>
          <a:xfrm>
            <a:off x="731520" y="5303520"/>
            <a:ext cx="10698480" cy="777240"/>
          </a:xfrm>
          <a:prstGeom prst="rect">
            <a:avLst/>
          </a:prstGeom>
          <a:solidFill>
            <a:srgbClr val="00B69F"/>
          </a:solidFill>
          <a:ln/>
        </p:spPr>
        <p:txBody>
          <a:bodyPr/>
          <a:lstStyle/>
          <a:p>
            <a:endParaRPr lang="en-GB"/>
          </a:p>
        </p:txBody>
      </p:sp>
      <p:sp>
        <p:nvSpPr>
          <p:cNvPr id="24" name="Text 16"/>
          <p:cNvSpPr/>
          <p:nvPr/>
        </p:nvSpPr>
        <p:spPr>
          <a:xfrm>
            <a:off x="1097280" y="5394960"/>
            <a:ext cx="9601200" cy="502920"/>
          </a:xfrm>
          <a:prstGeom prst="rect">
            <a:avLst/>
          </a:prstGeom>
          <a:noFill/>
          <a:ln/>
        </p:spPr>
        <p:txBody>
          <a:bodyPr wrap="square" lIns="0" tIns="0" rIns="0" bIns="0" rtlCol="0" anchor="ctr"/>
          <a:lstStyle/>
          <a:p>
            <a:pPr marL="0" indent="0">
              <a:buNone/>
            </a:pPr>
            <a:r>
              <a:rPr lang="en-US" sz="1300" b="1" dirty="0">
                <a:solidFill>
                  <a:srgbClr val="002747"/>
                </a:solidFill>
                <a:latin typeface="Poppins" pitchFamily="34" charset="0"/>
                <a:ea typeface="Poppins" pitchFamily="34" charset="-122"/>
                <a:cs typeface="Poppins" pitchFamily="34" charset="-120"/>
              </a:rPr>
              <a:t>There are no wrong answers. The product is better when it is shaped by real operational experience.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747"/>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00B69F"/>
          </a:solidFill>
          <a:ln/>
        </p:spPr>
        <p:txBody>
          <a:bodyPr/>
          <a:lstStyle/>
          <a:p>
            <a:endParaRPr lang="en-GB"/>
          </a:p>
        </p:txBody>
      </p:sp>
      <p:sp>
        <p:nvSpPr>
          <p:cNvPr id="3" name="Shape 1"/>
          <p:cNvSpPr/>
          <p:nvPr/>
        </p:nvSpPr>
        <p:spPr>
          <a:xfrm>
            <a:off x="0" y="0"/>
            <a:ext cx="6080760" cy="45720"/>
          </a:xfrm>
          <a:prstGeom prst="rect">
            <a:avLst/>
          </a:prstGeom>
          <a:solidFill>
            <a:srgbClr val="6FB4E3"/>
          </a:solidFill>
          <a:ln/>
        </p:spPr>
        <p:txBody>
          <a:bodyPr/>
          <a:lstStyle/>
          <a:p>
            <a:endParaRPr lang="en-GB"/>
          </a:p>
        </p:txBody>
      </p:sp>
      <p:sp>
        <p:nvSpPr>
          <p:cNvPr id="4" name="Text 2"/>
          <p:cNvSpPr/>
          <p:nvPr/>
        </p:nvSpPr>
        <p:spPr>
          <a:xfrm>
            <a:off x="731520" y="1828800"/>
            <a:ext cx="10058400" cy="914400"/>
          </a:xfrm>
          <a:prstGeom prst="rect">
            <a:avLst/>
          </a:prstGeom>
          <a:noFill/>
          <a:ln/>
        </p:spPr>
        <p:txBody>
          <a:bodyPr wrap="square" lIns="0" tIns="0" rIns="0" bIns="0" rtlCol="0" anchor="ctr"/>
          <a:lstStyle/>
          <a:p>
            <a:pPr marL="0" indent="0">
              <a:buNone/>
            </a:pPr>
            <a:r>
              <a:rPr lang="en-US" sz="4200" b="1" dirty="0">
                <a:solidFill>
                  <a:srgbClr val="FFFFFF"/>
                </a:solidFill>
                <a:latin typeface="Poppins" pitchFamily="34" charset="0"/>
                <a:ea typeface="Poppins" pitchFamily="34" charset="-122"/>
                <a:cs typeface="Poppins" pitchFamily="34" charset="-120"/>
              </a:rPr>
              <a:t>Predictive Inventory</a:t>
            </a:r>
            <a:endParaRPr lang="en-US" sz="4200" dirty="0"/>
          </a:p>
        </p:txBody>
      </p:sp>
      <p:sp>
        <p:nvSpPr>
          <p:cNvPr id="5" name="Text 3"/>
          <p:cNvSpPr/>
          <p:nvPr/>
        </p:nvSpPr>
        <p:spPr>
          <a:xfrm>
            <a:off x="731520" y="2743200"/>
            <a:ext cx="10058400" cy="548640"/>
          </a:xfrm>
          <a:prstGeom prst="rect">
            <a:avLst/>
          </a:prstGeom>
          <a:noFill/>
          <a:ln/>
        </p:spPr>
        <p:txBody>
          <a:bodyPr wrap="square" lIns="0" tIns="0" rIns="0" bIns="0" rtlCol="0" anchor="ctr"/>
          <a:lstStyle/>
          <a:p>
            <a:pPr marL="0" indent="0">
              <a:buNone/>
            </a:pPr>
            <a:r>
              <a:rPr lang="en-US" sz="2000" dirty="0">
                <a:solidFill>
                  <a:srgbClr val="00B69F"/>
                </a:solidFill>
                <a:latin typeface="Poppins" pitchFamily="34" charset="0"/>
                <a:ea typeface="Poppins" pitchFamily="34" charset="-122"/>
                <a:cs typeface="Poppins" pitchFamily="34" charset="-120"/>
              </a:rPr>
              <a:t>Count less. Find more. Trust the system.</a:t>
            </a:r>
            <a:endParaRPr lang="en-US" sz="2000" dirty="0"/>
          </a:p>
        </p:txBody>
      </p:sp>
      <p:sp>
        <p:nvSpPr>
          <p:cNvPr id="6" name="Shape 4"/>
          <p:cNvSpPr/>
          <p:nvPr/>
        </p:nvSpPr>
        <p:spPr>
          <a:xfrm>
            <a:off x="731520" y="3566160"/>
            <a:ext cx="3200400" cy="0"/>
          </a:xfrm>
          <a:prstGeom prst="line">
            <a:avLst/>
          </a:prstGeom>
          <a:noFill/>
          <a:ln w="19050">
            <a:solidFill>
              <a:srgbClr val="00B69F"/>
            </a:solidFill>
            <a:prstDash val="solid"/>
          </a:ln>
        </p:spPr>
        <p:txBody>
          <a:bodyPr/>
          <a:lstStyle/>
          <a:p>
            <a:endParaRPr lang="en-GB"/>
          </a:p>
        </p:txBody>
      </p:sp>
      <p:sp>
        <p:nvSpPr>
          <p:cNvPr id="7" name="Text 5"/>
          <p:cNvSpPr/>
          <p:nvPr/>
        </p:nvSpPr>
        <p:spPr>
          <a:xfrm>
            <a:off x="731520" y="3840480"/>
            <a:ext cx="7315200" cy="365760"/>
          </a:xfrm>
          <a:prstGeom prst="rect">
            <a:avLst/>
          </a:prstGeom>
          <a:noFill/>
          <a:ln/>
        </p:spPr>
        <p:txBody>
          <a:bodyPr wrap="square" lIns="0" tIns="0" rIns="0" bIns="0" rtlCol="0" anchor="ctr"/>
          <a:lstStyle/>
          <a:p>
            <a:pPr marL="0" indent="0">
              <a:buNone/>
            </a:pPr>
            <a:r>
              <a:rPr lang="en-US" sz="1400" dirty="0">
                <a:solidFill>
                  <a:srgbClr val="6FB4E3"/>
                </a:solidFill>
                <a:latin typeface="Poppins" pitchFamily="34" charset="0"/>
                <a:ea typeface="Poppins" pitchFamily="34" charset="-122"/>
                <a:cs typeface="Poppins" pitchFamily="34" charset="-120"/>
              </a:rPr>
              <a:t>Thank you for your time and your input.</a:t>
            </a:r>
            <a:endParaRPr lang="en-US" sz="1400" dirty="0"/>
          </a:p>
        </p:txBody>
      </p:sp>
      <p:sp>
        <p:nvSpPr>
          <p:cNvPr id="8" name="Text 6"/>
          <p:cNvSpPr/>
          <p:nvPr/>
        </p:nvSpPr>
        <p:spPr>
          <a:xfrm>
            <a:off x="731520" y="5303520"/>
            <a:ext cx="3657600" cy="365760"/>
          </a:xfrm>
          <a:prstGeom prst="rect">
            <a:avLst/>
          </a:prstGeom>
          <a:noFill/>
          <a:ln/>
        </p:spPr>
        <p:txBody>
          <a:bodyPr wrap="square" lIns="0" tIns="0" rIns="0" bIns="0" rtlCol="0" anchor="ctr"/>
          <a:lstStyle/>
          <a:p>
            <a:pPr marL="0" indent="0">
              <a:buNone/>
            </a:pPr>
            <a:r>
              <a:rPr lang="en-US" sz="1200" dirty="0">
                <a:solidFill>
                  <a:srgbClr val="CFD1D1"/>
                </a:solidFill>
                <a:latin typeface="Poppins" pitchFamily="34" charset="0"/>
                <a:ea typeface="Poppins" pitchFamily="34" charset="-122"/>
                <a:cs typeface="Poppins" pitchFamily="34" charset="-120"/>
              </a:rPr>
              <a:t>Fourth iQ</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1981</Words>
  <Application>Microsoft Office PowerPoint</Application>
  <PresentationFormat>Widescreen</PresentationFormat>
  <Paragraphs>230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Inventory - Customer Advisory Board</dc:title>
  <dc:subject>PptxGenJS Presentation</dc:subject>
  <dc:creator>Fourth</dc:creator>
  <cp:lastModifiedBy>Alistair Wright</cp:lastModifiedBy>
  <cp:revision>1</cp:revision>
  <dcterms:created xsi:type="dcterms:W3CDTF">2026-04-14T10:38:50Z</dcterms:created>
  <dcterms:modified xsi:type="dcterms:W3CDTF">2026-04-14T10:43:03Z</dcterms:modified>
</cp:coreProperties>
</file>